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6256000" cy="9144000"/>
  <p:notesSz cx="9144000" cy="16256000"/>
  <p:embeddedFontLst>
    <p:embeddedFont>
      <p:font typeface="Inter" panose="02000503000000020004" pitchFamily="2" charset="0"/>
      <p:regular r:id="rId15"/>
    </p:embeddedFont>
    <p:embeddedFont>
      <p:font typeface="Plus Jakarta Sans" pitchFamily="2" charset="77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725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logo" descr="preencoded.png"/>
          <p:cNvPicPr>
            <a:picLocks noChangeAspect="1"/>
          </p:cNvPicPr>
          <p:nvPr/>
        </p:nvPicPr>
        <p:blipFill>
          <a:blip r:embed="rId3"/>
          <a:srcRect l="6645" t="34000" r="6645" b="34000"/>
          <a:stretch/>
        </p:blipFill>
        <p:spPr>
          <a:xfrm>
            <a:off x="1016000" y="1244600"/>
            <a:ext cx="2133600" cy="787400"/>
          </a:xfrm>
          <a:prstGeom prst="rect">
            <a:avLst/>
          </a:prstGeom>
        </p:spPr>
      </p:pic>
      <p:sp>
        <p:nvSpPr>
          <p:cNvPr id="3" name="cover-title"/>
          <p:cNvSpPr/>
          <p:nvPr/>
        </p:nvSpPr>
        <p:spPr>
          <a:xfrm>
            <a:off x="1016000" y="2768600"/>
            <a:ext cx="8890000" cy="175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18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REMI</a:t>
            </a:r>
            <a:endParaRPr lang="en-US" sz="11800" dirty="0"/>
          </a:p>
        </p:txBody>
      </p:sp>
      <p:sp>
        <p:nvSpPr>
          <p:cNvPr id="4" name="cover-subtitle"/>
          <p:cNvSpPr/>
          <p:nvPr/>
        </p:nvSpPr>
        <p:spPr>
          <a:xfrm>
            <a:off x="1092200" y="5003800"/>
            <a:ext cx="10795000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1118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Personalized nutrition that adapts to real life.</a:t>
            </a:r>
            <a:endParaRPr lang="en-US" sz="4200" dirty="0"/>
          </a:p>
        </p:txBody>
      </p:sp>
      <p:sp>
        <p:nvSpPr>
          <p:cNvPr id="5" name="cover-divider"/>
          <p:cNvSpPr/>
          <p:nvPr/>
        </p:nvSpPr>
        <p:spPr>
          <a:xfrm>
            <a:off x="1092200" y="6477000"/>
            <a:ext cx="7747000" cy="9144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6" name="cover-context"/>
          <p:cNvSpPr/>
          <p:nvPr/>
        </p:nvSpPr>
        <p:spPr>
          <a:xfrm>
            <a:off x="1092200" y="69088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discussion with Fagron Genomics · September 2026</a:t>
            </a:r>
            <a:endParaRPr lang="en-US" sz="1900" dirty="0"/>
          </a:p>
        </p:txBody>
      </p:sp>
      <p:sp>
        <p:nvSpPr>
          <p:cNvPr id="7" name="cover-tagline"/>
          <p:cNvSpPr/>
          <p:nvPr/>
        </p:nvSpPr>
        <p:spPr>
          <a:xfrm>
            <a:off x="1092200" y="7747000"/>
            <a:ext cx="800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personalized nutrition into </a:t>
            </a:r>
            <a:r>
              <a:rPr lang="en-US" alt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everyday action.</a:t>
            </a:r>
            <a:endParaRPr lang="en-US" sz="2400" dirty="0"/>
          </a:p>
        </p:txBody>
      </p:sp>
      <p:sp>
        <p:nvSpPr>
          <p:cNvPr id="8" name="node-line-1"/>
          <p:cNvSpPr/>
          <p:nvPr/>
        </p:nvSpPr>
        <p:spPr>
          <a:xfrm>
            <a:off x="11607800" y="3098800"/>
            <a:ext cx="2159000" cy="914400"/>
          </a:xfrm>
          <a:prstGeom prst="line">
            <a:avLst/>
          </a:prstGeom>
          <a:ln w="25400">
            <a:solidFill>
              <a:srgbClr val="14B8A6">
                <a:alpha val="35000"/>
              </a:srgbClr>
            </a:solidFill>
            <a:prstDash val="solid"/>
          </a:ln>
        </p:spPr>
      </p:sp>
      <p:sp>
        <p:nvSpPr>
          <p:cNvPr id="9" name="node-line-2"/>
          <p:cNvSpPr/>
          <p:nvPr/>
        </p:nvSpPr>
        <p:spPr>
          <a:xfrm>
            <a:off x="12852400" y="4800600"/>
            <a:ext cx="1841500" cy="1016000"/>
          </a:xfrm>
          <a:prstGeom prst="line">
            <a:avLst/>
          </a:prstGeom>
          <a:ln w="25400">
            <a:solidFill>
              <a:srgbClr val="0B203A">
                <a:alpha val="25000"/>
              </a:srgbClr>
            </a:solidFill>
            <a:prstDash val="solid"/>
          </a:ln>
        </p:spPr>
      </p:sp>
      <p:sp>
        <p:nvSpPr>
          <p:cNvPr id="10" name="node-line-3"/>
          <p:cNvSpPr/>
          <p:nvPr/>
        </p:nvSpPr>
        <p:spPr>
          <a:xfrm>
            <a:off x="13766800" y="4013200"/>
            <a:ext cx="1270000" cy="812800"/>
          </a:xfrm>
          <a:prstGeom prst="line">
            <a:avLst/>
          </a:prstGeom>
          <a:ln w="25400">
            <a:solidFill>
              <a:srgbClr val="14B8A6">
                <a:alpha val="35000"/>
              </a:srgbClr>
            </a:solidFill>
            <a:prstDash val="solid"/>
          </a:ln>
        </p:spPr>
      </p:sp>
      <p:sp>
        <p:nvSpPr>
          <p:cNvPr id="11" name="node-line-4"/>
          <p:cNvSpPr/>
          <p:nvPr/>
        </p:nvSpPr>
        <p:spPr>
          <a:xfrm>
            <a:off x="12153900" y="5664200"/>
            <a:ext cx="1689100" cy="533400"/>
          </a:xfrm>
          <a:prstGeom prst="line">
            <a:avLst/>
          </a:prstGeom>
          <a:ln w="25400">
            <a:solidFill>
              <a:srgbClr val="0B203A">
                <a:alpha val="25000"/>
              </a:srgbClr>
            </a:solidFill>
            <a:prstDash val="solid"/>
          </a:ln>
        </p:spPr>
      </p:sp>
      <p:sp>
        <p:nvSpPr>
          <p:cNvPr id="12" name="node-1"/>
          <p:cNvSpPr/>
          <p:nvPr/>
        </p:nvSpPr>
        <p:spPr>
          <a:xfrm>
            <a:off x="11430000" y="2921000"/>
            <a:ext cx="355600" cy="355600"/>
          </a:xfrm>
          <a:prstGeom prst="ellipse">
            <a:avLst/>
          </a:prstGeom>
          <a:solidFill>
            <a:srgbClr val="14B8A6">
              <a:alpha val="90000"/>
            </a:srgbClr>
          </a:solidFill>
          <a:ln/>
        </p:spPr>
      </p:sp>
      <p:sp>
        <p:nvSpPr>
          <p:cNvPr id="13" name="node-2"/>
          <p:cNvSpPr/>
          <p:nvPr/>
        </p:nvSpPr>
        <p:spPr>
          <a:xfrm>
            <a:off x="13589000" y="3835400"/>
            <a:ext cx="355600" cy="355600"/>
          </a:xfrm>
          <a:prstGeom prst="ellipse">
            <a:avLst/>
          </a:prstGeom>
          <a:solidFill>
            <a:srgbClr val="0B203A">
              <a:alpha val="90000"/>
            </a:srgbClr>
          </a:solidFill>
          <a:ln/>
        </p:spPr>
      </p:sp>
      <p:sp>
        <p:nvSpPr>
          <p:cNvPr id="14" name="node-3"/>
          <p:cNvSpPr/>
          <p:nvPr/>
        </p:nvSpPr>
        <p:spPr>
          <a:xfrm>
            <a:off x="12674600" y="4622800"/>
            <a:ext cx="482600" cy="482600"/>
          </a:xfrm>
          <a:prstGeom prst="ellipse">
            <a:avLst/>
          </a:prstGeom>
          <a:solidFill>
            <a:srgbClr val="14B8A6">
              <a:alpha val="90000"/>
            </a:srgbClr>
          </a:solidFill>
          <a:ln/>
        </p:spPr>
      </p:sp>
      <p:sp>
        <p:nvSpPr>
          <p:cNvPr id="15" name="node-4"/>
          <p:cNvSpPr/>
          <p:nvPr/>
        </p:nvSpPr>
        <p:spPr>
          <a:xfrm>
            <a:off x="14541500" y="5638800"/>
            <a:ext cx="355600" cy="355600"/>
          </a:xfrm>
          <a:prstGeom prst="ellipse">
            <a:avLst/>
          </a:prstGeom>
          <a:solidFill>
            <a:srgbClr val="0B203A">
              <a:alpha val="90000"/>
            </a:srgbClr>
          </a:solidFill>
          <a:ln/>
        </p:spPr>
      </p:sp>
      <p:sp>
        <p:nvSpPr>
          <p:cNvPr id="16" name="node-5"/>
          <p:cNvSpPr/>
          <p:nvPr/>
        </p:nvSpPr>
        <p:spPr>
          <a:xfrm>
            <a:off x="11988800" y="5486400"/>
            <a:ext cx="304800" cy="304800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</p:sp>
      <p:sp>
        <p:nvSpPr>
          <p:cNvPr id="17" name="node-6"/>
          <p:cNvSpPr/>
          <p:nvPr/>
        </p:nvSpPr>
        <p:spPr>
          <a:xfrm>
            <a:off x="14884400" y="4648200"/>
            <a:ext cx="279400" cy="279400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</p:sp>
      <p:sp>
        <p:nvSpPr>
          <p:cNvPr id="18" name="cover-year"/>
          <p:cNvSpPr/>
          <p:nvPr/>
        </p:nvSpPr>
        <p:spPr>
          <a:xfrm>
            <a:off x="13970000" y="81788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1016000" y="4572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 / WHY REMI EXISTS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8255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4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Change is hard.</a:t>
            </a:r>
            <a:endParaRPr lang="en-US" sz="4400" dirty="0"/>
          </a:p>
        </p:txBody>
      </p:sp>
      <p:sp>
        <p:nvSpPr>
          <p:cNvPr id="5" name="slide-subtitle"/>
          <p:cNvSpPr/>
          <p:nvPr/>
        </p:nvSpPr>
        <p:spPr>
          <a:xfrm>
            <a:off x="1016000" y="1981200"/>
            <a:ext cx="965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Knowing what to change is not the same as knowing how to change.</a:t>
            </a:r>
            <a:endParaRPr lang="en-US" sz="2300" dirty="0"/>
          </a:p>
        </p:txBody>
      </p:sp>
      <p:sp>
        <p:nvSpPr>
          <p:cNvPr id="6" name="avoidance-stat"/>
          <p:cNvSpPr/>
          <p:nvPr/>
        </p:nvSpPr>
        <p:spPr>
          <a:xfrm>
            <a:off x="11811000" y="1320800"/>
            <a:ext cx="3429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42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≈ 1 in 3</a:t>
            </a:r>
            <a:endParaRPr lang="en-US" sz="4200" dirty="0"/>
          </a:p>
        </p:txBody>
      </p:sp>
      <p:sp>
        <p:nvSpPr>
          <p:cNvPr id="7" name="avoidance-label"/>
          <p:cNvSpPr/>
          <p:nvPr/>
        </p:nvSpPr>
        <p:spPr>
          <a:xfrm>
            <a:off x="11684000" y="2070100"/>
            <a:ext cx="355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10"/>
              </a:lnSpc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or may avoid medical</a:t>
            </a:r>
            <a:endParaRPr lang="en-US" sz="1400" dirty="0"/>
          </a:p>
          <a:p>
            <a:pPr marL="0" indent="0" algn="r">
              <a:lnSpc>
                <a:spcPts val="1610"/>
              </a:lnSpc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about their health</a:t>
            </a:r>
            <a:endParaRPr lang="en-US" sz="1400" dirty="0"/>
          </a:p>
        </p:txBody>
      </p:sp>
      <p:sp>
        <p:nvSpPr>
          <p:cNvPr id="8" name="avoidance-source"/>
          <p:cNvSpPr/>
          <p:nvPr/>
        </p:nvSpPr>
        <p:spPr>
          <a:xfrm>
            <a:off x="10922000" y="2654300"/>
            <a:ext cx="4318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information avoidance meta-analysis, 2025.</a:t>
            </a:r>
            <a:endParaRPr lang="en-US" sz="1100" dirty="0"/>
          </a:p>
        </p:txBody>
      </p:sp>
      <p:sp>
        <p:nvSpPr>
          <p:cNvPr id="9" name="example-panel"/>
          <p:cNvSpPr/>
          <p:nvPr/>
        </p:nvSpPr>
        <p:spPr>
          <a:xfrm>
            <a:off x="1016000" y="3124200"/>
            <a:ext cx="14224000" cy="2387600"/>
          </a:xfrm>
          <a:prstGeom prst="roundRect">
            <a:avLst>
              <a:gd name="adj" fmla="val 2660"/>
            </a:avLst>
          </a:prstGeom>
          <a:solidFill>
            <a:srgbClr val="EDF2F7"/>
          </a:solidFill>
          <a:ln/>
        </p:spPr>
      </p:sp>
      <p:sp>
        <p:nvSpPr>
          <p:cNvPr id="10" name="example-intro"/>
          <p:cNvSpPr/>
          <p:nvPr/>
        </p:nvSpPr>
        <p:spPr>
          <a:xfrm>
            <a:off x="1600200" y="3479800"/>
            <a:ext cx="393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DISCOVER YOU ARE</a:t>
            </a:r>
            <a:endParaRPr lang="en-US" sz="1400" dirty="0"/>
          </a:p>
        </p:txBody>
      </p:sp>
      <p:sp>
        <p:nvSpPr>
          <p:cNvPr id="11" name="apoe2"/>
          <p:cNvSpPr/>
          <p:nvPr/>
        </p:nvSpPr>
        <p:spPr>
          <a:xfrm>
            <a:off x="1549400" y="3822700"/>
            <a:ext cx="4000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64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APOE2.</a:t>
            </a:r>
            <a:endParaRPr lang="en-US" sz="6400" dirty="0"/>
          </a:p>
        </p:txBody>
      </p:sp>
      <p:sp>
        <p:nvSpPr>
          <p:cNvPr id="12" name="example-arrow"/>
          <p:cNvSpPr/>
          <p:nvPr/>
        </p:nvSpPr>
        <p:spPr>
          <a:xfrm>
            <a:off x="5892800" y="4241800"/>
            <a:ext cx="10160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3" name="example-question"/>
          <p:cNvSpPr/>
          <p:nvPr/>
        </p:nvSpPr>
        <p:spPr>
          <a:xfrm>
            <a:off x="7416800" y="3492500"/>
            <a:ext cx="6985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40"/>
              </a:lnSpc>
              <a:buNone/>
            </a:pPr>
            <a:r>
              <a:rPr lang="en-US" altLang="en-US" sz="30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does that actually change</a:t>
            </a:r>
            <a:endParaRPr lang="en-US" sz="3000" dirty="0"/>
          </a:p>
          <a:p>
            <a:pPr marL="0" indent="0" algn="l">
              <a:lnSpc>
                <a:spcPts val="3540"/>
              </a:lnSpc>
              <a:buNone/>
            </a:pPr>
            <a:r>
              <a:rPr lang="en-US" altLang="en-US" sz="30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my breakfast, lunch or dinner?</a:t>
            </a:r>
            <a:endParaRPr lang="en-US" sz="3000" dirty="0"/>
          </a:p>
        </p:txBody>
      </p:sp>
      <p:sp>
        <p:nvSpPr>
          <p:cNvPr id="14" name="example-note"/>
          <p:cNvSpPr/>
          <p:nvPr/>
        </p:nvSpPr>
        <p:spPr>
          <a:xfrm>
            <a:off x="7442200" y="4927600"/>
            <a:ext cx="660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practical question starts after the insight.</a:t>
            </a:r>
            <a:endParaRPr lang="en-US" sz="1400" dirty="0"/>
          </a:p>
        </p:txBody>
      </p:sp>
      <p:sp>
        <p:nvSpPr>
          <p:cNvPr id="15" name="application-message"/>
          <p:cNvSpPr/>
          <p:nvPr/>
        </p:nvSpPr>
        <p:spPr>
          <a:xfrm>
            <a:off x="1016000" y="5943600"/>
            <a:ext cx="825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8"/>
              </a:lnSpc>
              <a:buNone/>
            </a:pPr>
            <a:r>
              <a:rPr lang="en-US" altLang="en-US" sz="28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Knowing what to change is not enough.</a:t>
            </a:r>
            <a:endParaRPr lang="en-US" sz="2800" dirty="0"/>
          </a:p>
          <a:p>
            <a:pPr marL="0" indent="0" algn="l">
              <a:lnSpc>
                <a:spcPts val="3248"/>
              </a:lnSpc>
              <a:buNone/>
            </a:pPr>
            <a:r>
              <a:rPr lang="en-US" altLang="en-US" sz="28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People need help applying it every day.</a:t>
            </a:r>
            <a:endParaRPr lang="en-US" sz="2800" dirty="0"/>
          </a:p>
        </p:txBody>
      </p:sp>
      <p:sp>
        <p:nvSpPr>
          <p:cNvPr id="16" name="remi-lockup"/>
          <p:cNvSpPr/>
          <p:nvPr/>
        </p:nvSpPr>
        <p:spPr>
          <a:xfrm>
            <a:off x="10668000" y="5867400"/>
            <a:ext cx="4572000" cy="1168400"/>
          </a:xfrm>
          <a:prstGeom prst="roundRect">
            <a:avLst>
              <a:gd name="adj" fmla="val 4348"/>
            </a:avLst>
          </a:prstGeom>
          <a:solidFill>
            <a:srgbClr val="0B203A"/>
          </a:solidFill>
          <a:ln/>
        </p:spPr>
      </p:sp>
      <p:sp>
        <p:nvSpPr>
          <p:cNvPr id="17" name="remi-label"/>
          <p:cNvSpPr/>
          <p:nvPr/>
        </p:nvSpPr>
        <p:spPr>
          <a:xfrm>
            <a:off x="11023600" y="60706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B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</a:t>
            </a:r>
            <a:endParaRPr lang="en-US" sz="1400" dirty="0"/>
          </a:p>
        </p:txBody>
      </p:sp>
      <p:sp>
        <p:nvSpPr>
          <p:cNvPr id="18" name="remi-statement"/>
          <p:cNvSpPr/>
          <p:nvPr/>
        </p:nvSpPr>
        <p:spPr>
          <a:xfrm>
            <a:off x="11023600" y="64262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Make change easier.</a:t>
            </a:r>
            <a:endParaRPr lang="en-US" sz="2300" dirty="0"/>
          </a:p>
        </p:txBody>
      </p:sp>
      <p:sp>
        <p:nvSpPr>
          <p:cNvPr id="19" name="remi-detail"/>
          <p:cNvSpPr/>
          <p:nvPr/>
        </p:nvSpPr>
        <p:spPr>
          <a:xfrm>
            <a:off x="11023600" y="6807200"/>
            <a:ext cx="330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B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by step. In real life.</a:t>
            </a:r>
            <a:endParaRPr lang="en-US" sz="1300" dirty="0"/>
          </a:p>
        </p:txBody>
      </p:sp>
      <p:sp>
        <p:nvSpPr>
          <p:cNvPr id="20" name="aspirational-line"/>
          <p:cNvSpPr/>
          <p:nvPr/>
        </p:nvSpPr>
        <p:spPr>
          <a:xfrm>
            <a:off x="1016000" y="7150100"/>
            <a:ext cx="142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easier change made us want to know ourselves better?</a:t>
            </a:r>
            <a:endParaRPr lang="en-US" sz="1800" dirty="0"/>
          </a:p>
        </p:txBody>
      </p:sp>
      <p:sp>
        <p:nvSpPr>
          <p:cNvPr id="21" name="funmeddev-band"/>
          <p:cNvSpPr/>
          <p:nvPr/>
        </p:nvSpPr>
        <p:spPr>
          <a:xfrm>
            <a:off x="1016000" y="7696200"/>
            <a:ext cx="14224000" cy="749300"/>
          </a:xfrm>
          <a:prstGeom prst="roundRect">
            <a:avLst>
              <a:gd name="adj" fmla="val 9091"/>
            </a:avLst>
          </a:prstGeom>
          <a:solidFill>
            <a:srgbClr val="E8F8F5"/>
          </a:solidFill>
          <a:ln/>
        </p:spPr>
      </p:sp>
      <p:sp>
        <p:nvSpPr>
          <p:cNvPr id="22" name="funmeddev-label"/>
          <p:cNvSpPr/>
          <p:nvPr/>
        </p:nvSpPr>
        <p:spPr>
          <a:xfrm>
            <a:off x="1320800" y="7848600"/>
            <a:ext cx="1968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CLINICAL PARTNER</a:t>
            </a:r>
            <a:endParaRPr lang="en-US" sz="1200" dirty="0"/>
          </a:p>
        </p:txBody>
      </p:sp>
      <p:sp>
        <p:nvSpPr>
          <p:cNvPr id="23" name="funmeddev-name"/>
          <p:cNvSpPr/>
          <p:nvPr/>
        </p:nvSpPr>
        <p:spPr>
          <a:xfrm>
            <a:off x="3581400" y="7810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FunMedDev</a:t>
            </a:r>
            <a:endParaRPr lang="en-US" sz="1700" dirty="0"/>
          </a:p>
        </p:txBody>
      </p:sp>
      <p:sp>
        <p:nvSpPr>
          <p:cNvPr id="24" name="funmeddev-context"/>
          <p:cNvSpPr/>
          <p:nvPr/>
        </p:nvSpPr>
        <p:spPr>
          <a:xfrm>
            <a:off x="5232400" y="7835900"/>
            <a:ext cx="7239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Medicine Clinic · Liège · ≈30 patients tested with our first MVP</a:t>
            </a:r>
            <a:endParaRPr lang="en-US" sz="1200" dirty="0"/>
          </a:p>
        </p:txBody>
      </p:sp>
      <p:sp>
        <p:nvSpPr>
          <p:cNvPr id="25" name="funmeddev-learning"/>
          <p:cNvSpPr/>
          <p:nvPr/>
        </p:nvSpPr>
        <p:spPr>
          <a:xfrm>
            <a:off x="1320800" y="8051800"/>
            <a:ext cx="1320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 collaboration to test REMI MVPs. Shared observation: patients understood recommendations, but struggled to apply them in daily life.</a:t>
            </a:r>
            <a:endParaRPr lang="en-US" sz="1100" dirty="0"/>
          </a:p>
        </p:txBody>
      </p:sp>
      <p:sp>
        <p:nvSpPr>
          <p:cNvPr id="26" name="source"/>
          <p:cNvSpPr/>
          <p:nvPr/>
        </p:nvSpPr>
        <p:spPr>
          <a:xfrm>
            <a:off x="1016000" y="8559800"/>
            <a:ext cx="1270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Offer et al., 2025, systematic review and meta-analysis; REMI / FunMedDev internal product-learning collaboration, 2026.</a:t>
            </a:r>
            <a:endParaRPr lang="en-US" sz="1200" dirty="0"/>
          </a:p>
        </p:txBody>
      </p:sp>
      <p:sp>
        <p:nvSpPr>
          <p:cNvPr id="27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1016000" y="4572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 / PRODUCT MODEL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11938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REMI turns personalized nutrition into everyday action.</a:t>
            </a:r>
            <a:endParaRPr lang="en-US" sz="4200" dirty="0"/>
          </a:p>
        </p:txBody>
      </p:sp>
      <p:sp>
        <p:nvSpPr>
          <p:cNvPr id="5" name="slide-subtitle"/>
          <p:cNvSpPr/>
          <p:nvPr/>
        </p:nvSpPr>
        <p:spPr>
          <a:xfrm>
            <a:off x="1016000" y="1968500"/>
            <a:ext cx="1181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connecting practitioner expertise, biological insights and real-life behaviour.</a:t>
            </a:r>
            <a:endParaRPr lang="en-US" sz="2100" dirty="0"/>
          </a:p>
        </p:txBody>
      </p:sp>
      <p:sp>
        <p:nvSpPr>
          <p:cNvPr id="6" name="input-line"/>
          <p:cNvSpPr/>
          <p:nvPr/>
        </p:nvSpPr>
        <p:spPr>
          <a:xfrm>
            <a:off x="1905000" y="3098800"/>
            <a:ext cx="12446000" cy="9144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7" name="input-biology"/>
          <p:cNvSpPr/>
          <p:nvPr/>
        </p:nvSpPr>
        <p:spPr>
          <a:xfrm>
            <a:off x="1016000" y="2667000"/>
            <a:ext cx="1778000" cy="863600"/>
          </a:xfrm>
          <a:prstGeom prst="ellipse">
            <a:avLst/>
          </a:prstGeom>
          <a:solidFill>
            <a:srgbClr val="EDF2F7"/>
          </a:solidFill>
          <a:ln/>
        </p:spPr>
      </p:sp>
      <p:sp>
        <p:nvSpPr>
          <p:cNvPr id="8" name="input-biology-text"/>
          <p:cNvSpPr/>
          <p:nvPr/>
        </p:nvSpPr>
        <p:spPr>
          <a:xfrm>
            <a:off x="1016000" y="2667000"/>
            <a:ext cx="1778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Biology</a:t>
            </a:r>
            <a:endParaRPr lang="en-US" sz="1800" dirty="0"/>
          </a:p>
        </p:txBody>
      </p:sp>
      <p:sp>
        <p:nvSpPr>
          <p:cNvPr id="9" name="input-health"/>
          <p:cNvSpPr/>
          <p:nvPr/>
        </p:nvSpPr>
        <p:spPr>
          <a:xfrm>
            <a:off x="3556000" y="2667000"/>
            <a:ext cx="2032000" cy="863600"/>
          </a:xfrm>
          <a:prstGeom prst="ellipse">
            <a:avLst/>
          </a:prstGeom>
          <a:solidFill>
            <a:srgbClr val="EDF2F7"/>
          </a:solidFill>
          <a:ln/>
        </p:spPr>
      </p:sp>
      <p:sp>
        <p:nvSpPr>
          <p:cNvPr id="10" name="input-health-text"/>
          <p:cNvSpPr/>
          <p:nvPr/>
        </p:nvSpPr>
        <p:spPr>
          <a:xfrm>
            <a:off x="3556000" y="2667000"/>
            <a:ext cx="2032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7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context</a:t>
            </a:r>
            <a:endParaRPr lang="en-US" sz="1700" dirty="0"/>
          </a:p>
        </p:txBody>
      </p:sp>
      <p:sp>
        <p:nvSpPr>
          <p:cNvPr id="11" name="input-practitioner"/>
          <p:cNvSpPr/>
          <p:nvPr/>
        </p:nvSpPr>
        <p:spPr>
          <a:xfrm>
            <a:off x="6350000" y="2667000"/>
            <a:ext cx="2540000" cy="863600"/>
          </a:xfrm>
          <a:prstGeom prst="ellipse">
            <a:avLst/>
          </a:prstGeom>
          <a:solidFill>
            <a:srgbClr val="EDF2F7"/>
          </a:solidFill>
          <a:ln/>
        </p:spPr>
      </p:sp>
      <p:sp>
        <p:nvSpPr>
          <p:cNvPr id="12" name="input-practitioner-text"/>
          <p:cNvSpPr/>
          <p:nvPr/>
        </p:nvSpPr>
        <p:spPr>
          <a:xfrm>
            <a:off x="6350000" y="2667000"/>
            <a:ext cx="254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7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Practitioner expertise</a:t>
            </a:r>
            <a:endParaRPr lang="en-US" sz="1700" dirty="0"/>
          </a:p>
        </p:txBody>
      </p:sp>
      <p:sp>
        <p:nvSpPr>
          <p:cNvPr id="13" name="input-personality"/>
          <p:cNvSpPr/>
          <p:nvPr/>
        </p:nvSpPr>
        <p:spPr>
          <a:xfrm>
            <a:off x="9652000" y="2667000"/>
            <a:ext cx="2286000" cy="863600"/>
          </a:xfrm>
          <a:prstGeom prst="ellipse">
            <a:avLst/>
          </a:prstGeom>
          <a:solidFill>
            <a:srgbClr val="EDF2F7"/>
          </a:solidFill>
          <a:ln/>
        </p:spPr>
      </p:sp>
      <p:sp>
        <p:nvSpPr>
          <p:cNvPr id="14" name="input-personality-text"/>
          <p:cNvSpPr/>
          <p:nvPr/>
        </p:nvSpPr>
        <p:spPr>
          <a:xfrm>
            <a:off x="9652000" y="2667000"/>
            <a:ext cx="2286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&amp;</a:t>
            </a:r>
            <a:endParaRPr lang="en-US" sz="1600" dirty="0"/>
          </a:p>
          <a:p>
            <a:pPr marL="0" indent="0" algn="ctr">
              <a:buNone/>
            </a:pPr>
            <a:r>
              <a:rPr lang="en-US" altLang="en-US" sz="16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preferences</a:t>
            </a:r>
            <a:endParaRPr lang="en-US" sz="1600" dirty="0"/>
          </a:p>
        </p:txBody>
      </p:sp>
      <p:sp>
        <p:nvSpPr>
          <p:cNvPr id="15" name="input-life"/>
          <p:cNvSpPr/>
          <p:nvPr/>
        </p:nvSpPr>
        <p:spPr>
          <a:xfrm>
            <a:off x="12700000" y="2667000"/>
            <a:ext cx="2540000" cy="863600"/>
          </a:xfrm>
          <a:prstGeom prst="ellipse">
            <a:avLst/>
          </a:prstGeom>
          <a:solidFill>
            <a:srgbClr val="EDF2F7"/>
          </a:solidFill>
          <a:ln/>
        </p:spPr>
      </p:sp>
      <p:sp>
        <p:nvSpPr>
          <p:cNvPr id="16" name="input-life-text"/>
          <p:cNvSpPr/>
          <p:nvPr/>
        </p:nvSpPr>
        <p:spPr>
          <a:xfrm>
            <a:off x="12700000" y="2667000"/>
            <a:ext cx="254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Lifestyle &amp; real-life</a:t>
            </a:r>
            <a:endParaRPr lang="en-US" sz="1600" dirty="0"/>
          </a:p>
          <a:p>
            <a:pPr marL="0" indent="0" algn="ctr">
              <a:buNone/>
            </a:pPr>
            <a:r>
              <a:rPr lang="en-US" altLang="en-US" sz="16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behaviour</a:t>
            </a:r>
            <a:endParaRPr lang="en-US" sz="1600" dirty="0"/>
          </a:p>
        </p:txBody>
      </p:sp>
      <p:sp>
        <p:nvSpPr>
          <p:cNvPr id="17" name="inward-line-left"/>
          <p:cNvSpPr/>
          <p:nvPr/>
        </p:nvSpPr>
        <p:spPr>
          <a:xfrm>
            <a:off x="4699000" y="3530600"/>
            <a:ext cx="2349500" cy="482600"/>
          </a:xfrm>
          <a:prstGeom prst="line">
            <a:avLst/>
          </a:prstGeom>
          <a:ln w="2540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18" name="inward-line-center"/>
          <p:cNvSpPr/>
          <p:nvPr/>
        </p:nvSpPr>
        <p:spPr>
          <a:xfrm>
            <a:off x="7620000" y="3530600"/>
            <a:ext cx="508000" cy="482600"/>
          </a:xfrm>
          <a:prstGeom prst="line">
            <a:avLst/>
          </a:prstGeom>
          <a:ln w="2540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19" name="inward-line-right"/>
          <p:cNvSpPr/>
          <p:nvPr/>
        </p:nvSpPr>
        <p:spPr>
          <a:xfrm flipH="1">
            <a:off x="8636000" y="3530600"/>
            <a:ext cx="2349500" cy="482600"/>
          </a:xfrm>
          <a:prstGeom prst="line">
            <a:avLst/>
          </a:prstGeom>
          <a:ln w="2540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20" name="remi-core"/>
          <p:cNvSpPr/>
          <p:nvPr/>
        </p:nvSpPr>
        <p:spPr>
          <a:xfrm>
            <a:off x="6604000" y="3873500"/>
            <a:ext cx="3048000" cy="1219200"/>
          </a:xfrm>
          <a:prstGeom prst="ellipse">
            <a:avLst/>
          </a:prstGeom>
          <a:solidFill>
            <a:srgbClr val="0B203A"/>
          </a:solidFill>
          <a:ln/>
        </p:spPr>
      </p:sp>
      <p:sp>
        <p:nvSpPr>
          <p:cNvPr id="21" name="remi-core-text"/>
          <p:cNvSpPr/>
          <p:nvPr/>
        </p:nvSpPr>
        <p:spPr>
          <a:xfrm>
            <a:off x="6604000" y="4038600"/>
            <a:ext cx="304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3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REMI</a:t>
            </a:r>
            <a:endParaRPr lang="en-US" sz="3600" dirty="0"/>
          </a:p>
        </p:txBody>
      </p:sp>
      <p:sp>
        <p:nvSpPr>
          <p:cNvPr id="22" name="remi-core-caption"/>
          <p:cNvSpPr/>
          <p:nvPr/>
        </p:nvSpPr>
        <p:spPr>
          <a:xfrm>
            <a:off x="6604000" y="46482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300" dirty="0">
                <a:solidFill>
                  <a:srgbClr val="B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 ENGINE</a:t>
            </a:r>
            <a:endParaRPr lang="en-US" sz="1300" dirty="0"/>
          </a:p>
        </p:txBody>
      </p:sp>
      <p:sp>
        <p:nvSpPr>
          <p:cNvPr id="23" name="outward-left"/>
          <p:cNvSpPr/>
          <p:nvPr/>
        </p:nvSpPr>
        <p:spPr>
          <a:xfrm flipH="1">
            <a:off x="5461000" y="5092700"/>
            <a:ext cx="1778000" cy="571500"/>
          </a:xfrm>
          <a:prstGeom prst="line">
            <a:avLst/>
          </a:prstGeom>
          <a:ln w="25400">
            <a:solidFill>
              <a:srgbClr val="14B8A6"/>
            </a:solidFill>
            <a:prstDash val="solid"/>
          </a:ln>
        </p:spPr>
      </p:sp>
      <p:sp>
        <p:nvSpPr>
          <p:cNvPr id="24" name="outward-right"/>
          <p:cNvSpPr/>
          <p:nvPr/>
        </p:nvSpPr>
        <p:spPr>
          <a:xfrm>
            <a:off x="9017000" y="5092700"/>
            <a:ext cx="1778000" cy="571500"/>
          </a:xfrm>
          <a:prstGeom prst="line">
            <a:avLst/>
          </a:prstGeom>
          <a:ln w="25400">
            <a:solidFill>
              <a:srgbClr val="14B8A6"/>
            </a:solidFill>
            <a:prstDash val="solid"/>
          </a:ln>
        </p:spPr>
      </p:sp>
      <p:sp>
        <p:nvSpPr>
          <p:cNvPr id="25" name="split-divider"/>
          <p:cNvSpPr/>
          <p:nvPr/>
        </p:nvSpPr>
        <p:spPr>
          <a:xfrm>
            <a:off x="8128000" y="5816600"/>
            <a:ext cx="9144" cy="2095500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26" name="practitioner-label"/>
          <p:cNvSpPr/>
          <p:nvPr/>
        </p:nvSpPr>
        <p:spPr>
          <a:xfrm>
            <a:off x="1143000" y="5867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PRACTITIONER COPILOT</a:t>
            </a:r>
            <a:endParaRPr lang="en-US" sz="1400" dirty="0"/>
          </a:p>
        </p:txBody>
      </p:sp>
      <p:sp>
        <p:nvSpPr>
          <p:cNvPr id="27" name="practitioner-flow"/>
          <p:cNvSpPr/>
          <p:nvPr/>
        </p:nvSpPr>
        <p:spPr>
          <a:xfrm>
            <a:off x="1143000" y="6426200"/>
            <a:ext cx="6159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Understand → Structure → Draft protocol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Personalize → Monitor → Adapt</a:t>
            </a:r>
            <a:endParaRPr lang="en-US" sz="2600" dirty="0"/>
          </a:p>
        </p:txBody>
      </p:sp>
      <p:sp>
        <p:nvSpPr>
          <p:cNvPr id="28" name="practitioner-principle"/>
          <p:cNvSpPr/>
          <p:nvPr/>
        </p:nvSpPr>
        <p:spPr>
          <a:xfrm>
            <a:off x="1127312" y="7687056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 suggests. </a:t>
            </a:r>
            <a:r>
              <a:rPr lang="en-US" altLang="en-US" sz="20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practitioner decides.</a:t>
            </a:r>
            <a:endParaRPr lang="en-US" sz="2000" dirty="0"/>
          </a:p>
        </p:txBody>
      </p:sp>
      <p:sp>
        <p:nvSpPr>
          <p:cNvPr id="29" name="patient-label"/>
          <p:cNvSpPr/>
          <p:nvPr/>
        </p:nvSpPr>
        <p:spPr>
          <a:xfrm>
            <a:off x="8890000" y="58674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COMPANION</a:t>
            </a:r>
            <a:endParaRPr lang="en-US" sz="1400" dirty="0"/>
          </a:p>
        </p:txBody>
      </p:sp>
      <p:sp>
        <p:nvSpPr>
          <p:cNvPr id="30" name="patient-flow"/>
          <p:cNvSpPr/>
          <p:nvPr/>
        </p:nvSpPr>
        <p:spPr>
          <a:xfrm>
            <a:off x="8890000" y="6426200"/>
            <a:ext cx="571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Understand → Learn → Eat → Improve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Follow → Adapt</a:t>
            </a:r>
            <a:endParaRPr lang="en-US" sz="2600" dirty="0"/>
          </a:p>
        </p:txBody>
      </p:sp>
      <p:sp>
        <p:nvSpPr>
          <p:cNvPr id="31" name="patient-principle"/>
          <p:cNvSpPr/>
          <p:nvPr/>
        </p:nvSpPr>
        <p:spPr>
          <a:xfrm>
            <a:off x="8890000" y="7493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support between consultations.</a:t>
            </a:r>
            <a:endParaRPr lang="en-US" sz="2000" dirty="0"/>
          </a:p>
        </p:txBody>
      </p:sp>
      <p:sp>
        <p:nvSpPr>
          <p:cNvPr id="32" name="source"/>
          <p:cNvSpPr/>
          <p:nvPr/>
        </p:nvSpPr>
        <p:spPr>
          <a:xfrm>
            <a:off x="1016000" y="8559800"/>
            <a:ext cx="1092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REMI product vision and roadmap, 2026.</a:t>
            </a:r>
            <a:endParaRPr lang="en-US" sz="1300" dirty="0"/>
          </a:p>
        </p:txBody>
      </p:sp>
      <p:sp>
        <p:nvSpPr>
          <p:cNvPr id="33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1016000" y="457200"/>
            <a:ext cx="4635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 / REAL-LIFE PERSONALIZATION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1270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Personalization starts with the meal already on the table.</a:t>
            </a:r>
            <a:endParaRPr lang="en-US" sz="4200" dirty="0"/>
          </a:p>
        </p:txBody>
      </p:sp>
      <p:sp>
        <p:nvSpPr>
          <p:cNvPr id="5" name="patient-prompt-mark"/>
          <p:cNvSpPr/>
          <p:nvPr/>
        </p:nvSpPr>
        <p:spPr>
          <a:xfrm>
            <a:off x="1016000" y="2514600"/>
            <a:ext cx="482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54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patient-prompt"/>
          <p:cNvSpPr/>
          <p:nvPr/>
        </p:nvSpPr>
        <p:spPr>
          <a:xfrm>
            <a:off x="1536700" y="2641600"/>
            <a:ext cx="6477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0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I’m eating pasta tonight.</a:t>
            </a:r>
            <a:endParaRPr lang="en-US" sz="4000" dirty="0"/>
          </a:p>
        </p:txBody>
      </p:sp>
      <p:sp>
        <p:nvSpPr>
          <p:cNvPr id="7" name="patient-prompt-close"/>
          <p:cNvSpPr/>
          <p:nvPr/>
        </p:nvSpPr>
        <p:spPr>
          <a:xfrm>
            <a:off x="7848600" y="3009900"/>
            <a:ext cx="3302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54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”</a:t>
            </a:r>
            <a:endParaRPr lang="en-US" sz="5400" dirty="0"/>
          </a:p>
        </p:txBody>
      </p:sp>
      <p:sp>
        <p:nvSpPr>
          <p:cNvPr id="8" name="response-copy"/>
          <p:cNvSpPr/>
          <p:nvPr/>
        </p:nvSpPr>
        <p:spPr>
          <a:xfrm>
            <a:off x="1016000" y="3962400"/>
            <a:ext cx="7112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40"/>
              </a:lnSpc>
              <a:buNone/>
            </a:pPr>
            <a:r>
              <a:rPr lang="en-US" altLang="en-US" sz="3000" dirty="0">
                <a:solidFill>
                  <a:srgbClr val="1118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Improve what you are actually</a:t>
            </a:r>
            <a:endParaRPr lang="en-US" sz="3000" dirty="0"/>
          </a:p>
          <a:p>
            <a:pPr marL="0" indent="0" algn="l">
              <a:lnSpc>
                <a:spcPts val="3540"/>
              </a:lnSpc>
              <a:buNone/>
            </a:pPr>
            <a:r>
              <a:rPr lang="en-US" altLang="en-US" sz="3000" dirty="0">
                <a:solidFill>
                  <a:srgbClr val="1118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going to eat.</a:t>
            </a:r>
            <a:endParaRPr lang="en-US" sz="3000" dirty="0"/>
          </a:p>
        </p:txBody>
      </p:sp>
      <p:sp>
        <p:nvSpPr>
          <p:cNvPr id="9" name="profiles-label"/>
          <p:cNvSpPr/>
          <p:nvPr/>
        </p:nvSpPr>
        <p:spPr>
          <a:xfrm>
            <a:off x="1016000" y="5397500"/>
            <a:ext cx="533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MEAL. TWO PERSONALIZED PATHS.</a:t>
            </a:r>
            <a:endParaRPr lang="en-US" sz="1400" dirty="0"/>
          </a:p>
        </p:txBody>
      </p:sp>
      <p:sp>
        <p:nvSpPr>
          <p:cNvPr id="10" name="profile-a"/>
          <p:cNvSpPr/>
          <p:nvPr/>
        </p:nvSpPr>
        <p:spPr>
          <a:xfrm>
            <a:off x="1016000" y="5816600"/>
            <a:ext cx="3429000" cy="1498600"/>
          </a:xfrm>
          <a:prstGeom prst="roundRect">
            <a:avLst>
              <a:gd name="adj" fmla="val 3390"/>
            </a:avLst>
          </a:prstGeom>
          <a:solidFill>
            <a:srgbClr val="EDF2F7"/>
          </a:solidFill>
          <a:ln/>
        </p:spPr>
      </p:sp>
      <p:sp>
        <p:nvSpPr>
          <p:cNvPr id="11" name="profile-a-label"/>
          <p:cNvSpPr/>
          <p:nvPr/>
        </p:nvSpPr>
        <p:spPr>
          <a:xfrm>
            <a:off x="1295400" y="60706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A</a:t>
            </a:r>
            <a:endParaRPr lang="en-US" sz="1400" dirty="0"/>
          </a:p>
        </p:txBody>
      </p:sp>
      <p:sp>
        <p:nvSpPr>
          <p:cNvPr id="12" name="profile-a-copy"/>
          <p:cNvSpPr/>
          <p:nvPr/>
        </p:nvSpPr>
        <p:spPr>
          <a:xfrm>
            <a:off x="1295400" y="6477000"/>
            <a:ext cx="2794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altLang="en-US" sz="19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fibre</a:t>
            </a:r>
            <a:endParaRPr lang="en-US" sz="1900" dirty="0"/>
          </a:p>
          <a:p>
            <a:pPr marL="0" indent="0" algn="l">
              <a:lnSpc>
                <a:spcPts val="2280"/>
              </a:lnSpc>
              <a:buNone/>
            </a:pPr>
            <a:r>
              <a:rPr lang="en-US" altLang="en-US" sz="19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fat source</a:t>
            </a:r>
            <a:endParaRPr lang="en-US" sz="1900" dirty="0"/>
          </a:p>
        </p:txBody>
      </p:sp>
      <p:sp>
        <p:nvSpPr>
          <p:cNvPr id="13" name="profile-b"/>
          <p:cNvSpPr/>
          <p:nvPr/>
        </p:nvSpPr>
        <p:spPr>
          <a:xfrm>
            <a:off x="4800600" y="5816600"/>
            <a:ext cx="3429000" cy="1498600"/>
          </a:xfrm>
          <a:prstGeom prst="roundRect">
            <a:avLst>
              <a:gd name="adj" fmla="val 3390"/>
            </a:avLst>
          </a:prstGeom>
          <a:solidFill>
            <a:srgbClr val="0B203A"/>
          </a:solidFill>
          <a:ln/>
        </p:spPr>
      </p:sp>
      <p:sp>
        <p:nvSpPr>
          <p:cNvPr id="14" name="profile-b-label"/>
          <p:cNvSpPr/>
          <p:nvPr/>
        </p:nvSpPr>
        <p:spPr>
          <a:xfrm>
            <a:off x="5080000" y="60706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B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B</a:t>
            </a:r>
            <a:endParaRPr lang="en-US" sz="1400" dirty="0"/>
          </a:p>
        </p:txBody>
      </p:sp>
      <p:sp>
        <p:nvSpPr>
          <p:cNvPr id="15" name="profile-b-copy"/>
          <p:cNvSpPr/>
          <p:nvPr/>
        </p:nvSpPr>
        <p:spPr>
          <a:xfrm>
            <a:off x="5080000" y="6477000"/>
            <a:ext cx="2794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portion</a:t>
            </a:r>
            <a:endParaRPr lang="en-US" sz="1900" dirty="0"/>
          </a:p>
          <a:p>
            <a:pPr marL="0" indent="0" algn="l">
              <a:lnSpc>
                <a:spcPts val="2280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 side</a:t>
            </a:r>
            <a:endParaRPr lang="en-US" sz="1900" dirty="0"/>
          </a:p>
        </p:txBody>
      </p:sp>
      <p:sp>
        <p:nvSpPr>
          <p:cNvPr id="16" name="plate-shadow"/>
          <p:cNvSpPr/>
          <p:nvPr/>
        </p:nvSpPr>
        <p:spPr>
          <a:xfrm>
            <a:off x="10160000" y="5969000"/>
            <a:ext cx="4635500" cy="698500"/>
          </a:xfrm>
          <a:prstGeom prst="ellipse">
            <a:avLst/>
          </a:prstGeom>
          <a:solidFill>
            <a:srgbClr val="D9DEE3">
              <a:alpha val="45000"/>
            </a:srgbClr>
          </a:solidFill>
          <a:ln/>
        </p:spPr>
      </p:sp>
      <p:sp>
        <p:nvSpPr>
          <p:cNvPr id="17" name="plate-outer"/>
          <p:cNvSpPr/>
          <p:nvPr/>
        </p:nvSpPr>
        <p:spPr>
          <a:xfrm>
            <a:off x="10033000" y="2438400"/>
            <a:ext cx="4889500" cy="4000500"/>
          </a:xfrm>
          <a:prstGeom prst="ellipse">
            <a:avLst/>
          </a:prstGeom>
          <a:solidFill>
            <a:srgbClr val="F0E8DF"/>
          </a:solidFill>
          <a:ln w="25400">
            <a:solidFill>
              <a:srgbClr val="D9CDBF"/>
            </a:solidFill>
            <a:prstDash val="solid"/>
          </a:ln>
        </p:spPr>
      </p:sp>
      <p:sp>
        <p:nvSpPr>
          <p:cNvPr id="18" name="plate-inner"/>
          <p:cNvSpPr/>
          <p:nvPr/>
        </p:nvSpPr>
        <p:spPr>
          <a:xfrm>
            <a:off x="10515600" y="2870200"/>
            <a:ext cx="3937000" cy="3149600"/>
          </a:xfrm>
          <a:prstGeom prst="ellipse">
            <a:avLst/>
          </a:prstGeom>
          <a:solidFill>
            <a:srgbClr val="FFF7EF"/>
          </a:solidFill>
          <a:ln w="25400">
            <a:solidFill>
              <a:srgbClr val="E7D8C8"/>
            </a:solidFill>
            <a:prstDash val="solid"/>
          </a:ln>
        </p:spPr>
      </p:sp>
      <p:sp>
        <p:nvSpPr>
          <p:cNvPr id="19" name="pasta-base"/>
          <p:cNvSpPr/>
          <p:nvPr/>
        </p:nvSpPr>
        <p:spPr>
          <a:xfrm>
            <a:off x="11036300" y="3479800"/>
            <a:ext cx="2921000" cy="1955800"/>
          </a:xfrm>
          <a:prstGeom prst="ellipse">
            <a:avLst/>
          </a:prstGeom>
          <a:solidFill>
            <a:srgbClr val="E7AC72">
              <a:alpha val="90000"/>
            </a:srgbClr>
          </a:solidFill>
          <a:ln/>
        </p:spPr>
      </p:sp>
      <p:sp>
        <p:nvSpPr>
          <p:cNvPr id="20" name="pasta-sauce"/>
          <p:cNvSpPr/>
          <p:nvPr/>
        </p:nvSpPr>
        <p:spPr>
          <a:xfrm>
            <a:off x="11506200" y="3822700"/>
            <a:ext cx="1930400" cy="1193800"/>
          </a:xfrm>
          <a:prstGeom prst="ellipse">
            <a:avLst/>
          </a:prstGeom>
          <a:solidFill>
            <a:srgbClr val="C9705F">
              <a:alpha val="90000"/>
            </a:srgbClr>
          </a:solidFill>
          <a:ln/>
        </p:spPr>
      </p:sp>
      <p:sp>
        <p:nvSpPr>
          <p:cNvPr id="21" name="pasta-strand-1"/>
          <p:cNvSpPr/>
          <p:nvPr/>
        </p:nvSpPr>
        <p:spPr>
          <a:xfrm>
            <a:off x="11315700" y="3860800"/>
            <a:ext cx="1778000" cy="990600"/>
          </a:xfrm>
          <a:prstGeom prst="curvedConnector3">
            <a:avLst/>
          </a:prstGeom>
          <a:ln w="127000">
            <a:solidFill>
              <a:srgbClr val="FFF1C7"/>
            </a:solidFill>
            <a:prstDash val="solid"/>
          </a:ln>
        </p:spPr>
      </p:sp>
      <p:sp>
        <p:nvSpPr>
          <p:cNvPr id="22" name="pasta-strand-2"/>
          <p:cNvSpPr/>
          <p:nvPr/>
        </p:nvSpPr>
        <p:spPr>
          <a:xfrm>
            <a:off x="11620500" y="3708400"/>
            <a:ext cx="1651000" cy="1155700"/>
          </a:xfrm>
          <a:prstGeom prst="curvedConnector3">
            <a:avLst/>
          </a:prstGeom>
          <a:ln w="127000">
            <a:solidFill>
              <a:srgbClr val="FFF1C7"/>
            </a:solidFill>
            <a:prstDash val="solid"/>
          </a:ln>
        </p:spPr>
      </p:sp>
      <p:sp>
        <p:nvSpPr>
          <p:cNvPr id="23" name="pasta-strand-3"/>
          <p:cNvSpPr/>
          <p:nvPr/>
        </p:nvSpPr>
        <p:spPr>
          <a:xfrm>
            <a:off x="11899900" y="3949700"/>
            <a:ext cx="1524000" cy="838200"/>
          </a:xfrm>
          <a:prstGeom prst="curvedConnector3">
            <a:avLst/>
          </a:prstGeom>
          <a:ln w="127000">
            <a:solidFill>
              <a:srgbClr val="FFF1C7"/>
            </a:solidFill>
            <a:prstDash val="solid"/>
          </a:ln>
        </p:spPr>
      </p:sp>
      <p:sp>
        <p:nvSpPr>
          <p:cNvPr id="24" name="pasta-strand-4"/>
          <p:cNvSpPr/>
          <p:nvPr/>
        </p:nvSpPr>
        <p:spPr>
          <a:xfrm>
            <a:off x="11214100" y="4191000"/>
            <a:ext cx="1955800" cy="685800"/>
          </a:xfrm>
          <a:prstGeom prst="curvedConnector3">
            <a:avLst/>
          </a:prstGeom>
          <a:ln w="127000">
            <a:solidFill>
              <a:srgbClr val="FFF1C7"/>
            </a:solidFill>
            <a:prstDash val="solid"/>
          </a:ln>
        </p:spPr>
      </p:sp>
      <p:sp>
        <p:nvSpPr>
          <p:cNvPr id="25" name="basil-one"/>
          <p:cNvSpPr/>
          <p:nvPr/>
        </p:nvSpPr>
        <p:spPr>
          <a:xfrm rot="-1500000">
            <a:off x="11912600" y="4000500"/>
            <a:ext cx="228600" cy="127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basil-two"/>
          <p:cNvSpPr/>
          <p:nvPr/>
        </p:nvSpPr>
        <p:spPr>
          <a:xfrm rot="1680000">
            <a:off x="12293600" y="4495800"/>
            <a:ext cx="228600" cy="127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basil-three"/>
          <p:cNvSpPr/>
          <p:nvPr/>
        </p:nvSpPr>
        <p:spPr>
          <a:xfrm rot="-720000">
            <a:off x="12700000" y="4102100"/>
            <a:ext cx="228600" cy="127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8" name="recipe-note"/>
          <p:cNvSpPr/>
          <p:nvPr/>
        </p:nvSpPr>
        <p:spPr>
          <a:xfrm>
            <a:off x="9525000" y="6959600"/>
            <a:ext cx="596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Recipes are an output — not the product identity.</a:t>
            </a:r>
            <a:endParaRPr lang="en-US" sz="1800" dirty="0"/>
          </a:p>
        </p:txBody>
      </p:sp>
      <p:sp>
        <p:nvSpPr>
          <p:cNvPr id="29" name="context-rule"/>
          <p:cNvSpPr/>
          <p:nvPr/>
        </p:nvSpPr>
        <p:spPr>
          <a:xfrm>
            <a:off x="1016000" y="7772400"/>
            <a:ext cx="14224000" cy="9144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30" name="context"/>
          <p:cNvSpPr/>
          <p:nvPr/>
        </p:nvSpPr>
        <p:spPr>
          <a:xfrm>
            <a:off x="1016000" y="7950200"/>
            <a:ext cx="142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Genetics · Practitioner guidance · Health context · Symptoms · Preferences · Personality · Habits · Real-life behaviour</a:t>
            </a:r>
            <a:endParaRPr lang="en-US" sz="1400" dirty="0"/>
          </a:p>
        </p:txBody>
      </p:sp>
      <p:sp>
        <p:nvSpPr>
          <p:cNvPr id="31" name="source"/>
          <p:cNvSpPr/>
          <p:nvPr/>
        </p:nvSpPr>
        <p:spPr>
          <a:xfrm>
            <a:off x="1016000" y="8559800"/>
            <a:ext cx="1092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REMI product vision; FunMedDev MVP learning, 2026.</a:t>
            </a:r>
            <a:endParaRPr lang="en-US" sz="1300" dirty="0"/>
          </a:p>
        </p:txBody>
      </p:sp>
      <p:sp>
        <p:nvSpPr>
          <p:cNvPr id="32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1016000" y="457200"/>
            <a:ext cx="342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 / WHY NOW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1016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4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Personalized nutrition is growing.</a:t>
            </a:r>
            <a:endParaRPr lang="en-US" sz="4400" dirty="0"/>
          </a:p>
        </p:txBody>
      </p:sp>
      <p:sp>
        <p:nvSpPr>
          <p:cNvPr id="5" name="slide-subtitle"/>
          <p:cNvSpPr/>
          <p:nvPr/>
        </p:nvSpPr>
        <p:spPr>
          <a:xfrm>
            <a:off x="1016000" y="1981200"/>
            <a:ext cx="965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Everyday application is still the opportunity.</a:t>
            </a:r>
            <a:endParaRPr lang="en-US" sz="2500" dirty="0"/>
          </a:p>
        </p:txBody>
      </p:sp>
      <p:sp>
        <p:nvSpPr>
          <p:cNvPr id="6" name="metric-divider-1"/>
          <p:cNvSpPr/>
          <p:nvPr/>
        </p:nvSpPr>
        <p:spPr>
          <a:xfrm>
            <a:off x="7620000" y="3124200"/>
            <a:ext cx="9144" cy="3683000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7" name="metric-divider-2"/>
          <p:cNvSpPr/>
          <p:nvPr/>
        </p:nvSpPr>
        <p:spPr>
          <a:xfrm>
            <a:off x="11684000" y="3124200"/>
            <a:ext cx="9144" cy="3683000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8" name="market-start"/>
          <p:cNvSpPr/>
          <p:nvPr/>
        </p:nvSpPr>
        <p:spPr>
          <a:xfrm>
            <a:off x="1016000" y="3098800"/>
            <a:ext cx="2603500" cy="109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6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$3.7B</a:t>
            </a:r>
            <a:endParaRPr lang="en-US" sz="6200" dirty="0"/>
          </a:p>
        </p:txBody>
      </p:sp>
      <p:sp>
        <p:nvSpPr>
          <p:cNvPr id="9" name="market-arrow"/>
          <p:cNvSpPr/>
          <p:nvPr/>
        </p:nvSpPr>
        <p:spPr>
          <a:xfrm>
            <a:off x="3632200" y="3263900"/>
            <a:ext cx="698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48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4800" dirty="0"/>
          </a:p>
        </p:txBody>
      </p:sp>
      <p:sp>
        <p:nvSpPr>
          <p:cNvPr id="10" name="market-end"/>
          <p:cNvSpPr/>
          <p:nvPr/>
        </p:nvSpPr>
        <p:spPr>
          <a:xfrm>
            <a:off x="4343400" y="3098800"/>
            <a:ext cx="2603500" cy="109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6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$12.6B</a:t>
            </a:r>
            <a:endParaRPr lang="en-US" sz="6200" dirty="0"/>
          </a:p>
        </p:txBody>
      </p:sp>
      <p:sp>
        <p:nvSpPr>
          <p:cNvPr id="11" name="market-label"/>
          <p:cNvSpPr/>
          <p:nvPr/>
        </p:nvSpPr>
        <p:spPr>
          <a:xfrm>
            <a:off x="1016000" y="4572000"/>
            <a:ext cx="5943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Europe personalized nutrition</a:t>
            </a:r>
            <a:endParaRPr lang="en-US" sz="2000" dirty="0"/>
          </a:p>
          <a:p>
            <a:pPr marL="0" indent="0" algn="ctr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estimate · 2025 → 2034</a:t>
            </a:r>
            <a:endParaRPr lang="en-US" sz="2000" dirty="0"/>
          </a:p>
        </p:txBody>
      </p:sp>
      <p:sp>
        <p:nvSpPr>
          <p:cNvPr id="12" name="market-note"/>
          <p:cNvSpPr/>
          <p:nvPr/>
        </p:nvSpPr>
        <p:spPr>
          <a:xfrm>
            <a:off x="1016000" y="60198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estimate, not a REMI forecast.</a:t>
            </a:r>
            <a:endParaRPr lang="en-US" sz="1500" dirty="0"/>
          </a:p>
        </p:txBody>
      </p:sp>
      <p:sp>
        <p:nvSpPr>
          <p:cNvPr id="13" name="cagr-value"/>
          <p:cNvSpPr/>
          <p:nvPr/>
        </p:nvSpPr>
        <p:spPr>
          <a:xfrm>
            <a:off x="8001000" y="3124200"/>
            <a:ext cx="3302000" cy="109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59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14.65%</a:t>
            </a:r>
            <a:endParaRPr lang="en-US" sz="5900" dirty="0"/>
          </a:p>
        </p:txBody>
      </p:sp>
      <p:sp>
        <p:nvSpPr>
          <p:cNvPr id="14" name="cagr-label"/>
          <p:cNvSpPr/>
          <p:nvPr/>
        </p:nvSpPr>
        <p:spPr>
          <a:xfrm>
            <a:off x="8001000" y="4572000"/>
            <a:ext cx="330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annual growth</a:t>
            </a:r>
            <a:endParaRPr lang="en-US" sz="2000" dirty="0"/>
          </a:p>
          <a:p>
            <a:pPr marL="0" indent="0" algn="ctr">
              <a:lnSpc>
                <a:spcPts val="1920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2026–2034</a:t>
            </a:r>
            <a:endParaRPr lang="en-US" sz="2000" dirty="0"/>
          </a:p>
        </p:txBody>
      </p:sp>
      <p:sp>
        <p:nvSpPr>
          <p:cNvPr id="15" name="cagr-note"/>
          <p:cNvSpPr/>
          <p:nvPr/>
        </p:nvSpPr>
        <p:spPr>
          <a:xfrm>
            <a:off x="8001000" y="60198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European category signal.</a:t>
            </a:r>
            <a:endParaRPr lang="en-US" sz="1500" dirty="0"/>
          </a:p>
        </p:txBody>
      </p:sp>
      <p:sp>
        <p:nvSpPr>
          <p:cNvPr id="16" name="comfort-value"/>
          <p:cNvSpPr/>
          <p:nvPr/>
        </p:nvSpPr>
        <p:spPr>
          <a:xfrm>
            <a:off x="12065000" y="3124200"/>
            <a:ext cx="3048000" cy="109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70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91%</a:t>
            </a:r>
            <a:endParaRPr lang="en-US" sz="7000" dirty="0"/>
          </a:p>
        </p:txBody>
      </p:sp>
      <p:sp>
        <p:nvSpPr>
          <p:cNvPr id="17" name="comfort-label"/>
          <p:cNvSpPr/>
          <p:nvPr/>
        </p:nvSpPr>
        <p:spPr>
          <a:xfrm>
            <a:off x="11938000" y="4572000"/>
            <a:ext cx="330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Comfort with personalized</a:t>
            </a:r>
            <a:endParaRPr lang="en-US" sz="20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nutrition apps</a:t>
            </a:r>
            <a:endParaRPr lang="en-US" sz="2000" dirty="0"/>
          </a:p>
        </p:txBody>
      </p:sp>
      <p:sp>
        <p:nvSpPr>
          <p:cNvPr id="18" name="comfort-note"/>
          <p:cNvSpPr/>
          <p:nvPr/>
        </p:nvSpPr>
        <p:spPr>
          <a:xfrm>
            <a:off x="11938000" y="60198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signal, not adoption.</a:t>
            </a:r>
            <a:endParaRPr lang="en-US" sz="1500" dirty="0"/>
          </a:p>
        </p:txBody>
      </p:sp>
      <p:sp>
        <p:nvSpPr>
          <p:cNvPr id="19" name="closing-band"/>
          <p:cNvSpPr/>
          <p:nvPr/>
        </p:nvSpPr>
        <p:spPr>
          <a:xfrm>
            <a:off x="1016000" y="7289800"/>
            <a:ext cx="14224000" cy="736600"/>
          </a:xfrm>
          <a:prstGeom prst="roundRect">
            <a:avLst>
              <a:gd name="adj" fmla="val 6897"/>
            </a:avLst>
          </a:prstGeom>
          <a:solidFill>
            <a:srgbClr val="EDF2F7"/>
          </a:solidFill>
          <a:ln/>
        </p:spPr>
      </p:sp>
      <p:sp>
        <p:nvSpPr>
          <p:cNvPr id="20" name="closing-line"/>
          <p:cNvSpPr/>
          <p:nvPr/>
        </p:nvSpPr>
        <p:spPr>
          <a:xfrm>
            <a:off x="1016000" y="74676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Personalized insights are growing. Everyday application is still the opportunity.</a:t>
            </a:r>
            <a:endParaRPr lang="en-US" sz="2500" dirty="0"/>
          </a:p>
        </p:txBody>
      </p:sp>
      <p:sp>
        <p:nvSpPr>
          <p:cNvPr id="21" name="source"/>
          <p:cNvSpPr/>
          <p:nvPr/>
        </p:nvSpPr>
        <p:spPr>
          <a:xfrm>
            <a:off x="1016000" y="8559800"/>
            <a:ext cx="133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Market Data Forecast, Europe Personalized Nutrition Market, 2026; NutraIngredients, 2025, citing Euromonitor Voice of the Consumer: Health &amp; Nutrition Survey (Feb 2025; n=21,061 total).</a:t>
            </a:r>
            <a:endParaRPr lang="en-US" sz="1200" dirty="0"/>
          </a:p>
        </p:txBody>
      </p:sp>
      <p:sp>
        <p:nvSpPr>
          <p:cNvPr id="22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1016000" y="4572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 / ROADMAP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12954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 patient intelligence. Expand personalization. Scale the care loop.</a:t>
            </a:r>
            <a:endParaRPr lang="en-US" sz="4200" dirty="0"/>
          </a:p>
        </p:txBody>
      </p:sp>
      <p:sp>
        <p:nvSpPr>
          <p:cNvPr id="5" name="slide-subtitle"/>
          <p:cNvSpPr/>
          <p:nvPr/>
        </p:nvSpPr>
        <p:spPr>
          <a:xfrm>
            <a:off x="1016000" y="1981200"/>
            <a:ext cx="1079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REMI-owned platform roadmap — designed to learn first, then scale.</a:t>
            </a:r>
            <a:endParaRPr lang="en-US" sz="2100" dirty="0"/>
          </a:p>
        </p:txBody>
      </p:sp>
      <p:sp>
        <p:nvSpPr>
          <p:cNvPr id="6" name="timeline-track"/>
          <p:cNvSpPr/>
          <p:nvPr/>
        </p:nvSpPr>
        <p:spPr>
          <a:xfrm>
            <a:off x="1828800" y="3175000"/>
            <a:ext cx="12598400" cy="9144"/>
          </a:xfrm>
          <a:prstGeom prst="line">
            <a:avLst/>
          </a:prstGeom>
          <a:ln w="50800">
            <a:solidFill>
              <a:srgbClr val="E2E8F0"/>
            </a:solidFill>
            <a:prstDash val="solid"/>
          </a:ln>
        </p:spPr>
      </p:sp>
      <p:sp>
        <p:nvSpPr>
          <p:cNvPr id="7" name="timeline-node-1"/>
          <p:cNvSpPr/>
          <p:nvPr/>
        </p:nvSpPr>
        <p:spPr>
          <a:xfrm>
            <a:off x="1676400" y="3022600"/>
            <a:ext cx="304800" cy="3048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imeline-node-2"/>
          <p:cNvSpPr/>
          <p:nvPr/>
        </p:nvSpPr>
        <p:spPr>
          <a:xfrm>
            <a:off x="5143500" y="3022600"/>
            <a:ext cx="304800" cy="3048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imeline-node-3"/>
          <p:cNvSpPr/>
          <p:nvPr/>
        </p:nvSpPr>
        <p:spPr>
          <a:xfrm>
            <a:off x="8610600" y="3022600"/>
            <a:ext cx="304800" cy="3048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imeline-node-4"/>
          <p:cNvSpPr/>
          <p:nvPr/>
        </p:nvSpPr>
        <p:spPr>
          <a:xfrm>
            <a:off x="14274800" y="3022600"/>
            <a:ext cx="304800" cy="3048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phase-one-year"/>
          <p:cNvSpPr/>
          <p:nvPr/>
        </p:nvSpPr>
        <p:spPr>
          <a:xfrm>
            <a:off x="1016000" y="3683000"/>
            <a:ext cx="29845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7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</a:t>
            </a:r>
            <a:endParaRPr lang="en-US" sz="2700" dirty="0"/>
          </a:p>
        </p:txBody>
      </p:sp>
      <p:sp>
        <p:nvSpPr>
          <p:cNvPr id="12" name="phase-one-title"/>
          <p:cNvSpPr/>
          <p:nvPr/>
        </p:nvSpPr>
        <p:spPr>
          <a:xfrm>
            <a:off x="1016000" y="4203700"/>
            <a:ext cx="3111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altLang="en-US" sz="28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PATIENT</a:t>
            </a:r>
            <a:endParaRPr lang="en-US" sz="28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altLang="en-US" sz="28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INTELLIGENCE</a:t>
            </a:r>
            <a:endParaRPr lang="en-US" sz="2800" dirty="0"/>
          </a:p>
        </p:txBody>
      </p:sp>
      <p:sp>
        <p:nvSpPr>
          <p:cNvPr id="13" name="phase-one-copy"/>
          <p:cNvSpPr/>
          <p:nvPr/>
        </p:nvSpPr>
        <p:spPr>
          <a:xfrm>
            <a:off x="1016000" y="53340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Real-life personalization</a:t>
            </a:r>
            <a:endParaRPr lang="en-US" sz="1800" dirty="0"/>
          </a:p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· daily guidance</a:t>
            </a:r>
            <a:endParaRPr lang="en-US" sz="1800" dirty="0"/>
          </a:p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· FunMedDev V2</a:t>
            </a:r>
            <a:endParaRPr lang="en-US" sz="1800" dirty="0"/>
          </a:p>
        </p:txBody>
      </p:sp>
      <p:sp>
        <p:nvSpPr>
          <p:cNvPr id="14" name="phase-divider-1"/>
          <p:cNvSpPr/>
          <p:nvPr/>
        </p:nvSpPr>
        <p:spPr>
          <a:xfrm>
            <a:off x="4445000" y="3695700"/>
            <a:ext cx="9144" cy="2857500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15" name="phase-two-year"/>
          <p:cNvSpPr/>
          <p:nvPr/>
        </p:nvSpPr>
        <p:spPr>
          <a:xfrm>
            <a:off x="4953000" y="3683000"/>
            <a:ext cx="32385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7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2027</a:t>
            </a:r>
            <a:endParaRPr lang="en-US" sz="2700" dirty="0"/>
          </a:p>
        </p:txBody>
      </p:sp>
      <p:sp>
        <p:nvSpPr>
          <p:cNvPr id="16" name="phase-two-title"/>
          <p:cNvSpPr/>
          <p:nvPr/>
        </p:nvSpPr>
        <p:spPr>
          <a:xfrm>
            <a:off x="4953000" y="4203700"/>
            <a:ext cx="330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60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PRACTITIONER COPILOT</a:t>
            </a:r>
            <a:endParaRPr lang="en-US" sz="2600" dirty="0"/>
          </a:p>
          <a:p>
            <a:pPr marL="0" indent="0" algn="l">
              <a:lnSpc>
                <a:spcPts val="2860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 BIOLOGICAL DATA</a:t>
            </a:r>
            <a:endParaRPr lang="en-US" sz="2600" dirty="0"/>
          </a:p>
        </p:txBody>
      </p:sp>
      <p:sp>
        <p:nvSpPr>
          <p:cNvPr id="17" name="phase-two-copy"/>
          <p:cNvSpPr/>
          <p:nvPr/>
        </p:nvSpPr>
        <p:spPr>
          <a:xfrm>
            <a:off x="4953000" y="53340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drafting · monitoring</a:t>
            </a:r>
            <a:endParaRPr lang="en-US" sz="1800" dirty="0"/>
          </a:p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· genetics</a:t>
            </a:r>
            <a:endParaRPr lang="en-US" sz="1800" dirty="0"/>
          </a:p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Biomarkers · multiple sources</a:t>
            </a:r>
            <a:endParaRPr lang="en-US" sz="1800" dirty="0"/>
          </a:p>
        </p:txBody>
      </p:sp>
      <p:sp>
        <p:nvSpPr>
          <p:cNvPr id="18" name="phase-divider-2"/>
          <p:cNvSpPr/>
          <p:nvPr/>
        </p:nvSpPr>
        <p:spPr>
          <a:xfrm>
            <a:off x="8445500" y="3695700"/>
            <a:ext cx="9144" cy="2857500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19" name="phase-three-year"/>
          <p:cNvSpPr/>
          <p:nvPr/>
        </p:nvSpPr>
        <p:spPr>
          <a:xfrm>
            <a:off x="8953500" y="3683000"/>
            <a:ext cx="304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7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2027 / 28</a:t>
            </a:r>
            <a:endParaRPr lang="en-US" sz="2700" dirty="0"/>
          </a:p>
        </p:txBody>
      </p:sp>
      <p:sp>
        <p:nvSpPr>
          <p:cNvPr id="20" name="phase-three-title"/>
          <p:cNvSpPr/>
          <p:nvPr/>
        </p:nvSpPr>
        <p:spPr>
          <a:xfrm>
            <a:off x="8953500" y="4203700"/>
            <a:ext cx="3238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altLang="en-US" sz="27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SPECIALIST NETWORK</a:t>
            </a:r>
            <a:endParaRPr lang="en-US" sz="2700" dirty="0"/>
          </a:p>
          <a:p>
            <a:pPr marL="0" indent="0" algn="l">
              <a:lnSpc>
                <a:spcPts val="2970"/>
              </a:lnSpc>
              <a:buNone/>
            </a:pPr>
            <a:r>
              <a:rPr lang="en-US" altLang="en-US" sz="27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 REMOTE CARE</a:t>
            </a:r>
            <a:endParaRPr lang="en-US" sz="2700" dirty="0"/>
          </a:p>
        </p:txBody>
      </p:sp>
      <p:sp>
        <p:nvSpPr>
          <p:cNvPr id="21" name="phase-three-copy"/>
          <p:cNvSpPr/>
          <p:nvPr/>
        </p:nvSpPr>
        <p:spPr>
          <a:xfrm>
            <a:off x="8953500" y="5334000"/>
            <a:ext cx="311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practitioners</a:t>
            </a:r>
            <a:endParaRPr lang="en-US" sz="1800" dirty="0"/>
          </a:p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consultations</a:t>
            </a:r>
            <a:endParaRPr lang="en-US" sz="1800" dirty="0"/>
          </a:p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care pathways</a:t>
            </a:r>
            <a:endParaRPr lang="en-US" sz="1800" dirty="0"/>
          </a:p>
        </p:txBody>
      </p:sp>
      <p:sp>
        <p:nvSpPr>
          <p:cNvPr id="22" name="phase-divider-3"/>
          <p:cNvSpPr/>
          <p:nvPr/>
        </p:nvSpPr>
        <p:spPr>
          <a:xfrm>
            <a:off x="12446000" y="3695700"/>
            <a:ext cx="9144" cy="2857500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23" name="phase-four-year"/>
          <p:cNvSpPr/>
          <p:nvPr/>
        </p:nvSpPr>
        <p:spPr>
          <a:xfrm>
            <a:off x="12954000" y="3683000"/>
            <a:ext cx="228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7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EUROPE</a:t>
            </a:r>
            <a:endParaRPr lang="en-US" sz="2700" dirty="0"/>
          </a:p>
        </p:txBody>
      </p:sp>
      <p:sp>
        <p:nvSpPr>
          <p:cNvPr id="24" name="phase-four-title"/>
          <p:cNvSpPr/>
          <p:nvPr/>
        </p:nvSpPr>
        <p:spPr>
          <a:xfrm>
            <a:off x="12954000" y="4203700"/>
            <a:ext cx="2286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altLang="en-US" sz="27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PERSONALIZED</a:t>
            </a:r>
            <a:endParaRPr lang="en-US" sz="2700" dirty="0"/>
          </a:p>
          <a:p>
            <a:pPr marL="0" indent="0" algn="l">
              <a:lnSpc>
                <a:spcPts val="2970"/>
              </a:lnSpc>
              <a:buNone/>
            </a:pPr>
            <a:r>
              <a:rPr lang="en-US" altLang="en-US" sz="27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NUTRITION</a:t>
            </a:r>
            <a:endParaRPr lang="en-US" sz="2700" dirty="0"/>
          </a:p>
        </p:txBody>
      </p:sp>
      <p:sp>
        <p:nvSpPr>
          <p:cNvPr id="25" name="phase-four-copy"/>
          <p:cNvSpPr/>
          <p:nvPr/>
        </p:nvSpPr>
        <p:spPr>
          <a:xfrm>
            <a:off x="12954000" y="5334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Replicate the</a:t>
            </a:r>
            <a:endParaRPr lang="en-US" sz="1800" dirty="0"/>
          </a:p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loop</a:t>
            </a:r>
            <a:endParaRPr lang="en-US" sz="1800" dirty="0"/>
          </a:p>
          <a:p>
            <a:pPr marL="0" indent="0" algn="l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by market</a:t>
            </a:r>
            <a:endParaRPr lang="en-US" sz="1800" dirty="0"/>
          </a:p>
        </p:txBody>
      </p:sp>
      <p:sp>
        <p:nvSpPr>
          <p:cNvPr id="26" name="roadmap-closing-rule"/>
          <p:cNvSpPr/>
          <p:nvPr/>
        </p:nvSpPr>
        <p:spPr>
          <a:xfrm>
            <a:off x="1016000" y="7112000"/>
            <a:ext cx="14224000" cy="9144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27" name="roadmap-closing"/>
          <p:cNvSpPr/>
          <p:nvPr/>
        </p:nvSpPr>
        <p:spPr>
          <a:xfrm>
            <a:off x="1016000" y="7404100"/>
            <a:ext cx="1422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Belgium is the starting point. </a:t>
            </a:r>
            <a:r>
              <a:rPr lang="en-US" altLang="en-US" sz="2500" b="1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Europe is the ambition.</a:t>
            </a:r>
            <a:endParaRPr lang="en-US" sz="2500" dirty="0"/>
          </a:p>
        </p:txBody>
      </p:sp>
      <p:sp>
        <p:nvSpPr>
          <p:cNvPr id="28" name="source"/>
          <p:cNvSpPr/>
          <p:nvPr/>
        </p:nvSpPr>
        <p:spPr>
          <a:xfrm>
            <a:off x="1016000" y="8559800"/>
            <a:ext cx="1092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REMI product roadmap, 2026. 2027+ stages are strategic build ambitions.</a:t>
            </a:r>
            <a:endParaRPr lang="en-US" sz="1300" dirty="0"/>
          </a:p>
        </p:txBody>
      </p:sp>
      <p:sp>
        <p:nvSpPr>
          <p:cNvPr id="29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1016000" y="4572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 / THE TEAM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1270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vision. Three complementary capabilities.</a:t>
            </a:r>
            <a:endParaRPr lang="en-US" sz="4200" dirty="0"/>
          </a:p>
        </p:txBody>
      </p:sp>
      <p:sp>
        <p:nvSpPr>
          <p:cNvPr id="5" name="slide-subtitle"/>
          <p:cNvSpPr/>
          <p:nvPr/>
        </p:nvSpPr>
        <p:spPr>
          <a:xfrm>
            <a:off x="1016000" y="1968500"/>
            <a:ext cx="1041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/ Market / Technology — built around the same care loop.</a:t>
            </a:r>
            <a:endParaRPr lang="en-US" sz="2100" dirty="0"/>
          </a:p>
        </p:txBody>
      </p:sp>
      <p:pic>
        <p:nvPicPr>
          <p:cNvPr id="6" name="morgane-photo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4000" y="2667000"/>
            <a:ext cx="2159000" cy="2159000"/>
          </a:xfrm>
          <a:prstGeom prst="ellipse">
            <a:avLst/>
          </a:prstGeom>
          <a:ln w="38100">
            <a:solidFill>
              <a:srgbClr val="14B8A6"/>
            </a:solidFill>
          </a:ln>
        </p:spPr>
      </p:pic>
      <p:sp>
        <p:nvSpPr>
          <p:cNvPr id="7" name="morgane-name"/>
          <p:cNvSpPr/>
          <p:nvPr/>
        </p:nvSpPr>
        <p:spPr>
          <a:xfrm>
            <a:off x="1016000" y="5143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MORGANE PAQUET</a:t>
            </a:r>
            <a:endParaRPr lang="en-US" sz="2500" dirty="0"/>
          </a:p>
        </p:txBody>
      </p:sp>
      <p:sp>
        <p:nvSpPr>
          <p:cNvPr id="8" name="morgane-role"/>
          <p:cNvSpPr/>
          <p:nvPr/>
        </p:nvSpPr>
        <p:spPr>
          <a:xfrm>
            <a:off x="1016000" y="56261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/ PATIENT EXPERIENCE</a:t>
            </a:r>
            <a:endParaRPr lang="en-US" sz="1400" dirty="0"/>
          </a:p>
        </p:txBody>
      </p:sp>
      <p:sp>
        <p:nvSpPr>
          <p:cNvPr id="9" name="morgane-expertise"/>
          <p:cNvSpPr/>
          <p:nvPr/>
        </p:nvSpPr>
        <p:spPr>
          <a:xfrm>
            <a:off x="1016000" y="6096000"/>
            <a:ext cx="317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Nutrition · practitioner research</a:t>
            </a:r>
            <a:endParaRPr lang="en-US" sz="1700" dirty="0"/>
          </a:p>
          <a:p>
            <a:pPr marL="0" indent="0" algn="ctr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insight · product vision</a:t>
            </a:r>
            <a:endParaRPr lang="en-US" sz="1700" dirty="0"/>
          </a:p>
          <a:p>
            <a:pPr marL="0" indent="0" algn="ctr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Real-life personalization</a:t>
            </a:r>
            <a:endParaRPr lang="en-US" sz="1700" dirty="0"/>
          </a:p>
        </p:txBody>
      </p:sp>
      <p:pic>
        <p:nvPicPr>
          <p:cNvPr id="10" name="arnaud-photo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40500" y="2667000"/>
            <a:ext cx="2159000" cy="2159000"/>
          </a:xfrm>
          <a:prstGeom prst="ellipse">
            <a:avLst/>
          </a:prstGeom>
          <a:ln w="38100">
            <a:solidFill>
              <a:srgbClr val="14B8A6"/>
            </a:solidFill>
          </a:ln>
        </p:spPr>
      </p:pic>
      <p:sp>
        <p:nvSpPr>
          <p:cNvPr id="11" name="arnaud-name"/>
          <p:cNvSpPr/>
          <p:nvPr/>
        </p:nvSpPr>
        <p:spPr>
          <a:xfrm>
            <a:off x="6032500" y="5143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ARNAUD RUELLE</a:t>
            </a:r>
            <a:endParaRPr lang="en-US" sz="2500" dirty="0"/>
          </a:p>
        </p:txBody>
      </p:sp>
      <p:sp>
        <p:nvSpPr>
          <p:cNvPr id="12" name="arnaud-role"/>
          <p:cNvSpPr/>
          <p:nvPr/>
        </p:nvSpPr>
        <p:spPr>
          <a:xfrm>
            <a:off x="6032500" y="56261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/ PARTNERSHIPS</a:t>
            </a:r>
            <a:endParaRPr lang="en-US" sz="1400" dirty="0"/>
          </a:p>
        </p:txBody>
      </p:sp>
      <p:sp>
        <p:nvSpPr>
          <p:cNvPr id="13" name="arnaud-expertise"/>
          <p:cNvSpPr/>
          <p:nvPr/>
        </p:nvSpPr>
        <p:spPr>
          <a:xfrm>
            <a:off x="6032500" y="6096000"/>
            <a:ext cx="317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· partnerships</a:t>
            </a:r>
            <a:endParaRPr lang="en-US" sz="1700" dirty="0"/>
          </a:p>
          <a:p>
            <a:pPr marL="0" indent="0" algn="ctr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development</a:t>
            </a:r>
            <a:endParaRPr lang="en-US" sz="1700" dirty="0"/>
          </a:p>
          <a:p>
            <a:pPr marL="0" indent="0" algn="ctr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· European opportunity</a:t>
            </a:r>
            <a:endParaRPr lang="en-US" sz="1700" dirty="0"/>
          </a:p>
        </p:txBody>
      </p:sp>
      <p:pic>
        <p:nvPicPr>
          <p:cNvPr id="14" name="jamie-photo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557000" y="2667000"/>
            <a:ext cx="2159000" cy="2159000"/>
          </a:xfrm>
          <a:prstGeom prst="ellipse">
            <a:avLst/>
          </a:prstGeom>
          <a:ln w="38100">
            <a:solidFill>
              <a:srgbClr val="14B8A6"/>
            </a:solidFill>
          </a:ln>
        </p:spPr>
      </p:pic>
      <p:sp>
        <p:nvSpPr>
          <p:cNvPr id="15" name="jamie-name"/>
          <p:cNvSpPr/>
          <p:nvPr/>
        </p:nvSpPr>
        <p:spPr>
          <a:xfrm>
            <a:off x="11049000" y="5143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JAMIE NISBET</a:t>
            </a:r>
            <a:endParaRPr lang="en-US" sz="2500" dirty="0"/>
          </a:p>
        </p:txBody>
      </p:sp>
      <p:sp>
        <p:nvSpPr>
          <p:cNvPr id="16" name="jamie-role"/>
          <p:cNvSpPr/>
          <p:nvPr/>
        </p:nvSpPr>
        <p:spPr>
          <a:xfrm>
            <a:off x="11049000" y="56261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/ ARCHITECTURE</a:t>
            </a:r>
            <a:endParaRPr lang="en-US" sz="1400" dirty="0"/>
          </a:p>
        </p:txBody>
      </p:sp>
      <p:sp>
        <p:nvSpPr>
          <p:cNvPr id="17" name="jamie-expertise"/>
          <p:cNvSpPr/>
          <p:nvPr/>
        </p:nvSpPr>
        <p:spPr>
          <a:xfrm>
            <a:off x="11049000" y="6096000"/>
            <a:ext cx="317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engineering · integrations</a:t>
            </a:r>
            <a:endParaRPr lang="en-US" sz="1700" dirty="0"/>
          </a:p>
          <a:p>
            <a:pPr marL="0" indent="0" algn="ctr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layers · modularity</a:t>
            </a:r>
            <a:endParaRPr lang="en-US" sz="1700" dirty="0"/>
          </a:p>
          <a:p>
            <a:pPr marL="0" indent="0" algn="ctr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 · platform architecture</a:t>
            </a:r>
            <a:endParaRPr lang="en-US" sz="1700" dirty="0"/>
          </a:p>
        </p:txBody>
      </p:sp>
      <p:sp>
        <p:nvSpPr>
          <p:cNvPr id="18" name="team-band"/>
          <p:cNvSpPr/>
          <p:nvPr/>
        </p:nvSpPr>
        <p:spPr>
          <a:xfrm>
            <a:off x="2032000" y="7467600"/>
            <a:ext cx="12192000" cy="660400"/>
          </a:xfrm>
          <a:prstGeom prst="roundRect">
            <a:avLst>
              <a:gd name="adj" fmla="val 7692"/>
            </a:avLst>
          </a:prstGeom>
          <a:solidFill>
            <a:srgbClr val="EDF2F7"/>
          </a:solidFill>
          <a:ln/>
        </p:spPr>
      </p:sp>
      <p:sp>
        <p:nvSpPr>
          <p:cNvPr id="19" name="team-band-text"/>
          <p:cNvSpPr/>
          <p:nvPr/>
        </p:nvSpPr>
        <p:spPr>
          <a:xfrm>
            <a:off x="2286000" y="7645400"/>
            <a:ext cx="1168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1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VISION · </a:t>
            </a:r>
            <a:r>
              <a:rPr lang="en-US" altLang="en-US" sz="2100" b="1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THREE COMPLEMENTARY CAPABILITIES</a:t>
            </a:r>
            <a:endParaRPr lang="en-US" sz="2100" dirty="0"/>
          </a:p>
        </p:txBody>
      </p:sp>
      <p:sp>
        <p:nvSpPr>
          <p:cNvPr id="20" name="source"/>
          <p:cNvSpPr/>
          <p:nvPr/>
        </p:nvSpPr>
        <p:spPr>
          <a:xfrm>
            <a:off x="1016000" y="8559800"/>
            <a:ext cx="1092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REMI founding team and internal company information, 2026.</a:t>
            </a:r>
            <a:endParaRPr lang="en-US" sz="1300" dirty="0"/>
          </a:p>
        </p:txBody>
      </p:sp>
      <p:sp>
        <p:nvSpPr>
          <p:cNvPr id="21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1016000" y="457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 / OPEN DISCUSSION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13462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Where do our ambitions overlap?</a:t>
            </a:r>
            <a:endParaRPr lang="en-US" sz="4200" dirty="0"/>
          </a:p>
        </p:txBody>
      </p:sp>
      <p:sp>
        <p:nvSpPr>
          <p:cNvPr id="5" name="fagron-label"/>
          <p:cNvSpPr/>
          <p:nvPr/>
        </p:nvSpPr>
        <p:spPr>
          <a:xfrm>
            <a:off x="1016000" y="27686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FAGRON GENOMICS</a:t>
            </a:r>
            <a:endParaRPr lang="en-US" sz="1400" dirty="0"/>
          </a:p>
        </p:txBody>
      </p:sp>
      <p:sp>
        <p:nvSpPr>
          <p:cNvPr id="6" name="fagron-items"/>
          <p:cNvSpPr/>
          <p:nvPr/>
        </p:nvSpPr>
        <p:spPr>
          <a:xfrm>
            <a:off x="1016000" y="3302000"/>
            <a:ext cx="546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8"/>
              </a:lnSpc>
              <a:buNone/>
            </a:pPr>
            <a:r>
              <a:rPr lang="en-US" altLang="en-US" sz="28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Genetic testing</a:t>
            </a:r>
            <a:endParaRPr lang="en-US" sz="2800" dirty="0"/>
          </a:p>
          <a:p>
            <a:pPr marL="0" indent="0" algn="l">
              <a:lnSpc>
                <a:spcPts val="3528"/>
              </a:lnSpc>
              <a:buNone/>
            </a:pPr>
            <a:r>
              <a:rPr lang="en-US" altLang="en-US" sz="28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Genetic expertise</a:t>
            </a:r>
            <a:endParaRPr lang="en-US" sz="2800" dirty="0"/>
          </a:p>
          <a:p>
            <a:pPr marL="0" indent="0" algn="l">
              <a:lnSpc>
                <a:spcPts val="3528"/>
              </a:lnSpc>
              <a:buNone/>
            </a:pPr>
            <a:r>
              <a:rPr lang="en-US" altLang="en-US" sz="28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Scientific knowledge</a:t>
            </a:r>
            <a:endParaRPr lang="en-US" sz="2800" dirty="0"/>
          </a:p>
          <a:p>
            <a:pPr marL="0" indent="0" algn="l">
              <a:lnSpc>
                <a:spcPts val="3528"/>
              </a:lnSpc>
              <a:buNone/>
            </a:pPr>
            <a:r>
              <a:rPr lang="en-US" altLang="en-US" sz="28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Practitioner education</a:t>
            </a:r>
            <a:endParaRPr lang="en-US" sz="2800" dirty="0"/>
          </a:p>
          <a:p>
            <a:pPr marL="0" indent="0" algn="l">
              <a:lnSpc>
                <a:spcPts val="3528"/>
              </a:lnSpc>
              <a:buNone/>
            </a:pPr>
            <a:r>
              <a:rPr lang="en-US" altLang="en-US" sz="28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International footprint</a:t>
            </a:r>
            <a:endParaRPr lang="en-US" sz="2800" dirty="0"/>
          </a:p>
        </p:txBody>
      </p:sp>
      <p:sp>
        <p:nvSpPr>
          <p:cNvPr id="7" name="fagron-baseline"/>
          <p:cNvSpPr/>
          <p:nvPr/>
        </p:nvSpPr>
        <p:spPr>
          <a:xfrm>
            <a:off x="1016000" y="6070600"/>
            <a:ext cx="5461000" cy="9144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8" name="fagron-subline"/>
          <p:cNvSpPr/>
          <p:nvPr/>
        </p:nvSpPr>
        <p:spPr>
          <a:xfrm>
            <a:off x="1016000" y="6311900"/>
            <a:ext cx="546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Publicly described capabilities</a:t>
            </a:r>
            <a:endParaRPr lang="en-US" sz="1800" dirty="0"/>
          </a:p>
        </p:txBody>
      </p:sp>
      <p:sp>
        <p:nvSpPr>
          <p:cNvPr id="9" name="connector-mark"/>
          <p:cNvSpPr/>
          <p:nvPr/>
        </p:nvSpPr>
        <p:spPr>
          <a:xfrm>
            <a:off x="7239000" y="4000500"/>
            <a:ext cx="1778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72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×</a:t>
            </a:r>
            <a:endParaRPr lang="en-US" sz="7200" dirty="0"/>
          </a:p>
        </p:txBody>
      </p:sp>
      <p:sp>
        <p:nvSpPr>
          <p:cNvPr id="10" name="remi-label"/>
          <p:cNvSpPr/>
          <p:nvPr/>
        </p:nvSpPr>
        <p:spPr>
          <a:xfrm>
            <a:off x="9652000" y="27686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</a:t>
            </a:r>
            <a:endParaRPr lang="en-US" sz="1400" dirty="0"/>
          </a:p>
        </p:txBody>
      </p:sp>
      <p:sp>
        <p:nvSpPr>
          <p:cNvPr id="11" name="remi-items"/>
          <p:cNvSpPr/>
          <p:nvPr/>
        </p:nvSpPr>
        <p:spPr>
          <a:xfrm>
            <a:off x="9652000" y="3302000"/>
            <a:ext cx="55880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172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Personalized nutrition platform</a:t>
            </a:r>
            <a:endParaRPr lang="en-US" sz="2600" dirty="0"/>
          </a:p>
          <a:p>
            <a:pPr marL="0" indent="0" algn="r">
              <a:lnSpc>
                <a:spcPts val="3172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Practitioner Copilot</a:t>
            </a:r>
            <a:endParaRPr lang="en-US" sz="2600" dirty="0"/>
          </a:p>
          <a:p>
            <a:pPr marL="0" indent="0" algn="r">
              <a:lnSpc>
                <a:spcPts val="3172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Protocol support</a:t>
            </a:r>
            <a:endParaRPr lang="en-US" sz="2600" dirty="0"/>
          </a:p>
          <a:p>
            <a:pPr marL="0" indent="0" algn="r">
              <a:lnSpc>
                <a:spcPts val="3172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Patient education</a:t>
            </a:r>
            <a:endParaRPr lang="en-US" sz="2600" dirty="0"/>
          </a:p>
          <a:p>
            <a:pPr marL="0" indent="0" algn="r">
              <a:lnSpc>
                <a:spcPts val="3172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personalization</a:t>
            </a:r>
            <a:endParaRPr lang="en-US" sz="2600" dirty="0"/>
          </a:p>
          <a:p>
            <a:pPr marL="0" indent="0" algn="r">
              <a:lnSpc>
                <a:spcPts val="3172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Longitudinal follow-up</a:t>
            </a:r>
            <a:endParaRPr lang="en-US" sz="2600" dirty="0"/>
          </a:p>
          <a:p>
            <a:pPr marL="0" indent="0" algn="r">
              <a:lnSpc>
                <a:spcPts val="3172"/>
              </a:lnSpc>
              <a:buNone/>
            </a:pPr>
            <a:r>
              <a:rPr lang="en-US" altLang="en-US" sz="26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Future practitioner network</a:t>
            </a:r>
            <a:endParaRPr lang="en-US" sz="2600" dirty="0"/>
          </a:p>
        </p:txBody>
      </p:sp>
      <p:sp>
        <p:nvSpPr>
          <p:cNvPr id="12" name="remi-baseline"/>
          <p:cNvSpPr/>
          <p:nvPr/>
        </p:nvSpPr>
        <p:spPr>
          <a:xfrm>
            <a:off x="9779000" y="6070600"/>
            <a:ext cx="5461000" cy="9144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13" name="remi-subline"/>
          <p:cNvSpPr/>
          <p:nvPr/>
        </p:nvSpPr>
        <p:spPr>
          <a:xfrm>
            <a:off x="9779000" y="6311900"/>
            <a:ext cx="546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REMI-owned platform ambition</a:t>
            </a:r>
            <a:endParaRPr lang="en-US" sz="1800" dirty="0"/>
          </a:p>
        </p:txBody>
      </p:sp>
      <p:sp>
        <p:nvSpPr>
          <p:cNvPr id="14" name="question-band"/>
          <p:cNvSpPr/>
          <p:nvPr/>
        </p:nvSpPr>
        <p:spPr>
          <a:xfrm>
            <a:off x="1905000" y="6959600"/>
            <a:ext cx="12446000" cy="787400"/>
          </a:xfrm>
          <a:prstGeom prst="roundRect">
            <a:avLst>
              <a:gd name="adj" fmla="val 6452"/>
            </a:avLst>
          </a:prstGeom>
          <a:solidFill>
            <a:srgbClr val="EDF2F7"/>
          </a:solidFill>
          <a:ln/>
        </p:spPr>
      </p:sp>
      <p:sp>
        <p:nvSpPr>
          <p:cNvPr id="15" name="central-question"/>
          <p:cNvSpPr/>
          <p:nvPr/>
        </p:nvSpPr>
        <p:spPr>
          <a:xfrm>
            <a:off x="2159000" y="7150100"/>
            <a:ext cx="1193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Where could these capabilities create the most value together?</a:t>
            </a:r>
            <a:endParaRPr lang="en-US" sz="2500" dirty="0"/>
          </a:p>
        </p:txBody>
      </p:sp>
      <p:sp>
        <p:nvSpPr>
          <p:cNvPr id="16" name="themes"/>
          <p:cNvSpPr/>
          <p:nvPr/>
        </p:nvSpPr>
        <p:spPr>
          <a:xfrm>
            <a:off x="2032000" y="7950200"/>
            <a:ext cx="1219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· Education · Practitioners · Patient journey · Data · Europe</a:t>
            </a:r>
            <a:endParaRPr lang="en-US" sz="1400" dirty="0"/>
          </a:p>
        </p:txBody>
      </p:sp>
      <p:sp>
        <p:nvSpPr>
          <p:cNvPr id="17" name="source"/>
          <p:cNvSpPr/>
          <p:nvPr/>
        </p:nvSpPr>
        <p:spPr>
          <a:xfrm>
            <a:off x="1016000" y="8559800"/>
            <a:ext cx="130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Fagron capabilities: public information from Fagron Genomics website and 2025 annual-report materials. REMI capabilities: internal product vision.</a:t>
            </a:r>
            <a:endParaRPr lang="en-US" sz="1200" dirty="0"/>
          </a:p>
        </p:txBody>
      </p:sp>
      <p:sp>
        <p:nvSpPr>
          <p:cNvPr id="18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up-label"/>
          <p:cNvSpPr/>
          <p:nvPr/>
        </p:nvSpPr>
        <p:spPr>
          <a:xfrm>
            <a:off x="1016000" y="4572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/ DISCUSSION IF RELEVANT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1143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possible path from biological insight to daily action.</a:t>
            </a:r>
            <a:endParaRPr lang="en-US" sz="4200" dirty="0"/>
          </a:p>
        </p:txBody>
      </p:sp>
      <p:sp>
        <p:nvSpPr>
          <p:cNvPr id="5" name="slide-subtitle"/>
          <p:cNvSpPr/>
          <p:nvPr/>
        </p:nvSpPr>
        <p:spPr>
          <a:xfrm>
            <a:off x="1016000" y="19685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hypothesis to explore if post-test experience, follow-up or activation are priorities.</a:t>
            </a:r>
            <a:endParaRPr lang="en-US" sz="2100" dirty="0"/>
          </a:p>
        </p:txBody>
      </p:sp>
      <p:sp>
        <p:nvSpPr>
          <p:cNvPr id="6" name="arrow-one"/>
          <p:cNvSpPr/>
          <p:nvPr/>
        </p:nvSpPr>
        <p:spPr>
          <a:xfrm>
            <a:off x="3302000" y="4191000"/>
            <a:ext cx="5080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7" name="arrow-two"/>
          <p:cNvSpPr/>
          <p:nvPr/>
        </p:nvSpPr>
        <p:spPr>
          <a:xfrm>
            <a:off x="6096000" y="4191000"/>
            <a:ext cx="5080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arrow-three"/>
          <p:cNvSpPr/>
          <p:nvPr/>
        </p:nvSpPr>
        <p:spPr>
          <a:xfrm>
            <a:off x="8890000" y="4191000"/>
            <a:ext cx="5080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arrow-four"/>
          <p:cNvSpPr/>
          <p:nvPr/>
        </p:nvSpPr>
        <p:spPr>
          <a:xfrm>
            <a:off x="11684000" y="4191000"/>
            <a:ext cx="5080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step-one"/>
          <p:cNvSpPr/>
          <p:nvPr/>
        </p:nvSpPr>
        <p:spPr>
          <a:xfrm>
            <a:off x="1016000" y="3048000"/>
            <a:ext cx="2286000" cy="2286000"/>
          </a:xfrm>
          <a:prstGeom prst="ellipse">
            <a:avLst/>
          </a:prstGeom>
          <a:solidFill>
            <a:srgbClr val="0B203A"/>
          </a:solidFill>
          <a:ln/>
        </p:spPr>
      </p:sp>
      <p:sp>
        <p:nvSpPr>
          <p:cNvPr id="11" name="step-one-title"/>
          <p:cNvSpPr/>
          <p:nvPr/>
        </p:nvSpPr>
        <p:spPr>
          <a:xfrm>
            <a:off x="1244600" y="3594100"/>
            <a:ext cx="182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</a:t>
            </a:r>
            <a:endParaRPr lang="en-US" sz="2300" dirty="0"/>
          </a:p>
          <a:p>
            <a:pPr marL="0" indent="0" algn="ctr">
              <a:buNone/>
            </a:pPr>
            <a:r>
              <a:rPr lang="en-US" altLang="en-US" sz="2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 insight</a:t>
            </a:r>
            <a:endParaRPr lang="en-US" sz="2300" dirty="0"/>
          </a:p>
        </p:txBody>
      </p:sp>
      <p:sp>
        <p:nvSpPr>
          <p:cNvPr id="12" name="step-one-copy"/>
          <p:cNvSpPr/>
          <p:nvPr/>
        </p:nvSpPr>
        <p:spPr>
          <a:xfrm>
            <a:off x="1270000" y="438150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B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Biological</a:t>
            </a:r>
            <a:endParaRPr lang="en-US" sz="14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B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13" name="step-two"/>
          <p:cNvSpPr/>
          <p:nvPr/>
        </p:nvSpPr>
        <p:spPr>
          <a:xfrm>
            <a:off x="3810000" y="3048000"/>
            <a:ext cx="2286000" cy="2286000"/>
          </a:xfrm>
          <a:prstGeom prst="ellipse">
            <a:avLst/>
          </a:prstGeom>
          <a:solidFill>
            <a:srgbClr val="EDF2F7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step-two-title"/>
          <p:cNvSpPr/>
          <p:nvPr/>
        </p:nvSpPr>
        <p:spPr>
          <a:xfrm>
            <a:off x="4038600" y="3594100"/>
            <a:ext cx="182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Practitioner</a:t>
            </a:r>
            <a:endParaRPr lang="en-US" sz="2200" dirty="0"/>
          </a:p>
          <a:p>
            <a:pPr marL="0" indent="0" algn="ctr">
              <a:buNone/>
            </a:pPr>
            <a:r>
              <a:rPr lang="en-US" altLang="en-US" sz="2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interpretation</a:t>
            </a:r>
            <a:endParaRPr lang="en-US" sz="2200" dirty="0"/>
          </a:p>
        </p:txBody>
      </p:sp>
      <p:sp>
        <p:nvSpPr>
          <p:cNvPr id="15" name="step-two-copy"/>
          <p:cNvSpPr/>
          <p:nvPr/>
        </p:nvSpPr>
        <p:spPr>
          <a:xfrm>
            <a:off x="4064000" y="438150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and</a:t>
            </a:r>
            <a:endParaRPr lang="en-US" sz="14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judgement</a:t>
            </a:r>
            <a:endParaRPr lang="en-US" sz="1400" dirty="0"/>
          </a:p>
        </p:txBody>
      </p:sp>
      <p:sp>
        <p:nvSpPr>
          <p:cNvPr id="16" name="step-three"/>
          <p:cNvSpPr/>
          <p:nvPr/>
        </p:nvSpPr>
        <p:spPr>
          <a:xfrm>
            <a:off x="6604000" y="3048000"/>
            <a:ext cx="2286000" cy="2286000"/>
          </a:xfrm>
          <a:prstGeom prst="ellipse">
            <a:avLst/>
          </a:prstGeom>
          <a:solidFill>
            <a:srgbClr val="EDF2F7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7" name="step-three-title"/>
          <p:cNvSpPr/>
          <p:nvPr/>
        </p:nvSpPr>
        <p:spPr>
          <a:xfrm>
            <a:off x="6832600" y="3594100"/>
            <a:ext cx="182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Personalized</a:t>
            </a:r>
            <a:endParaRPr lang="en-US" sz="2200" dirty="0"/>
          </a:p>
          <a:p>
            <a:pPr marL="0" indent="0" algn="ctr">
              <a:buNone/>
            </a:pPr>
            <a:r>
              <a:rPr lang="en-US" altLang="en-US" sz="2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protocol</a:t>
            </a:r>
            <a:endParaRPr lang="en-US" sz="2200" dirty="0"/>
          </a:p>
        </p:txBody>
      </p:sp>
      <p:sp>
        <p:nvSpPr>
          <p:cNvPr id="18" name="step-three-copy"/>
          <p:cNvSpPr/>
          <p:nvPr/>
        </p:nvSpPr>
        <p:spPr>
          <a:xfrm>
            <a:off x="6858000" y="438150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next</a:t>
            </a:r>
            <a:endParaRPr lang="en-US" sz="14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</a:t>
            </a:r>
            <a:endParaRPr lang="en-US" sz="1400" dirty="0"/>
          </a:p>
        </p:txBody>
      </p:sp>
      <p:sp>
        <p:nvSpPr>
          <p:cNvPr id="19" name="step-four"/>
          <p:cNvSpPr/>
          <p:nvPr/>
        </p:nvSpPr>
        <p:spPr>
          <a:xfrm>
            <a:off x="9398000" y="3048000"/>
            <a:ext cx="2286000" cy="22860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step-four-title"/>
          <p:cNvSpPr/>
          <p:nvPr/>
        </p:nvSpPr>
        <p:spPr>
          <a:xfrm>
            <a:off x="9626600" y="3594100"/>
            <a:ext cx="182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REMI</a:t>
            </a:r>
            <a:endParaRPr lang="en-US" sz="2300" dirty="0"/>
          </a:p>
          <a:p>
            <a:pPr marL="0" indent="0" algn="ctr">
              <a:buNone/>
            </a:pPr>
            <a:r>
              <a:rPr lang="en-US" altLang="en-US" sz="2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education</a:t>
            </a:r>
            <a:endParaRPr lang="en-US" sz="2300" dirty="0"/>
          </a:p>
        </p:txBody>
      </p:sp>
      <p:sp>
        <p:nvSpPr>
          <p:cNvPr id="21" name="step-four-copy"/>
          <p:cNvSpPr/>
          <p:nvPr/>
        </p:nvSpPr>
        <p:spPr>
          <a:xfrm>
            <a:off x="9652000" y="438150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E3FF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action in</a:t>
            </a:r>
            <a:endParaRPr lang="en-US" sz="14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E3FF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life</a:t>
            </a:r>
            <a:endParaRPr lang="en-US" sz="1400" dirty="0"/>
          </a:p>
        </p:txBody>
      </p:sp>
      <p:sp>
        <p:nvSpPr>
          <p:cNvPr id="22" name="step-five"/>
          <p:cNvSpPr/>
          <p:nvPr/>
        </p:nvSpPr>
        <p:spPr>
          <a:xfrm>
            <a:off x="12192000" y="3048000"/>
            <a:ext cx="2286000" cy="2286000"/>
          </a:xfrm>
          <a:prstGeom prst="ellipse">
            <a:avLst/>
          </a:prstGeom>
          <a:solidFill>
            <a:srgbClr val="EDF2F7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3" name="step-five-title"/>
          <p:cNvSpPr/>
          <p:nvPr/>
        </p:nvSpPr>
        <p:spPr>
          <a:xfrm>
            <a:off x="12420600" y="3594100"/>
            <a:ext cx="182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Feedback</a:t>
            </a:r>
            <a:endParaRPr lang="en-US" sz="2200" dirty="0"/>
          </a:p>
          <a:p>
            <a:pPr marL="0" indent="0" algn="ctr">
              <a:buNone/>
            </a:pPr>
            <a:r>
              <a:rPr lang="en-US" altLang="en-US" sz="2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 adaptation</a:t>
            </a:r>
            <a:endParaRPr lang="en-US" sz="2200" dirty="0"/>
          </a:p>
        </p:txBody>
      </p:sp>
      <p:sp>
        <p:nvSpPr>
          <p:cNvPr id="24" name="step-five-copy"/>
          <p:cNvSpPr/>
          <p:nvPr/>
        </p:nvSpPr>
        <p:spPr>
          <a:xfrm>
            <a:off x="12446000" y="438150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Longitudinal</a:t>
            </a:r>
            <a:endParaRPr lang="en-US" sz="1400" dirty="0"/>
          </a:p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</a:t>
            </a:r>
            <a:endParaRPr lang="en-US" sz="1400" dirty="0"/>
          </a:p>
        </p:txBody>
      </p:sp>
      <p:sp>
        <p:nvSpPr>
          <p:cNvPr id="25" name="qualifier-band"/>
          <p:cNvSpPr/>
          <p:nvPr/>
        </p:nvSpPr>
        <p:spPr>
          <a:xfrm>
            <a:off x="2413000" y="6858000"/>
            <a:ext cx="11430000" cy="787400"/>
          </a:xfrm>
          <a:prstGeom prst="roundRect">
            <a:avLst>
              <a:gd name="adj" fmla="val 6452"/>
            </a:avLst>
          </a:prstGeom>
          <a:solidFill>
            <a:srgbClr val="EDF2F7"/>
          </a:solidFill>
          <a:ln/>
        </p:spPr>
      </p:sp>
      <p:sp>
        <p:nvSpPr>
          <p:cNvPr id="26" name="qualifier"/>
          <p:cNvSpPr/>
          <p:nvPr/>
        </p:nvSpPr>
        <p:spPr>
          <a:xfrm>
            <a:off x="2794000" y="7048500"/>
            <a:ext cx="1066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Hypothesis for discussion — </a:t>
            </a:r>
            <a:r>
              <a:rPr lang="en-US" altLang="en-US" sz="20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final partnership model.</a:t>
            </a:r>
            <a:endParaRPr lang="en-US" sz="2000" dirty="0"/>
          </a:p>
        </p:txBody>
      </p:sp>
      <p:sp>
        <p:nvSpPr>
          <p:cNvPr id="27" name="source"/>
          <p:cNvSpPr/>
          <p:nvPr/>
        </p:nvSpPr>
        <p:spPr>
          <a:xfrm>
            <a:off x="1016000" y="8559800"/>
            <a:ext cx="1206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 discussion slide based on REMI product vision and publicly described Fagron Genomics result pathway.</a:t>
            </a:r>
            <a:endParaRPr lang="en-US" sz="1300" dirty="0"/>
          </a:p>
        </p:txBody>
      </p:sp>
      <p:sp>
        <p:nvSpPr>
          <p:cNvPr id="28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up-label"/>
          <p:cNvSpPr/>
          <p:nvPr/>
        </p:nvSpPr>
        <p:spPr>
          <a:xfrm>
            <a:off x="1016000" y="4572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/ DISCUSSION IF RELEVANT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13081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scientific knowledge to everyday practitioner capability.</a:t>
            </a:r>
            <a:endParaRPr lang="en-US" sz="4200" dirty="0"/>
          </a:p>
        </p:txBody>
      </p:sp>
      <p:sp>
        <p:nvSpPr>
          <p:cNvPr id="5" name="slide-subtitle"/>
          <p:cNvSpPr/>
          <p:nvPr/>
        </p:nvSpPr>
        <p:spPr>
          <a:xfrm>
            <a:off x="1016000" y="19685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strategic possibility to explore if practitioner education and adoption are priorities.</a:t>
            </a:r>
            <a:endParaRPr lang="en-US" sz="2100" dirty="0"/>
          </a:p>
        </p:txBody>
      </p:sp>
      <p:sp>
        <p:nvSpPr>
          <p:cNvPr id="6" name="fagron-block"/>
          <p:cNvSpPr/>
          <p:nvPr/>
        </p:nvSpPr>
        <p:spPr>
          <a:xfrm>
            <a:off x="1016000" y="2794000"/>
            <a:ext cx="5334000" cy="2184400"/>
          </a:xfrm>
          <a:prstGeom prst="roundRect">
            <a:avLst>
              <a:gd name="adj" fmla="val 2326"/>
            </a:avLst>
          </a:prstGeom>
          <a:solidFill>
            <a:srgbClr val="EDF2F7"/>
          </a:solidFill>
          <a:ln/>
        </p:spPr>
      </p:sp>
      <p:sp>
        <p:nvSpPr>
          <p:cNvPr id="7" name="fagron-label"/>
          <p:cNvSpPr/>
          <p:nvPr/>
        </p:nvSpPr>
        <p:spPr>
          <a:xfrm>
            <a:off x="1422400" y="31496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FAGRON EXPERTISE</a:t>
            </a:r>
            <a:endParaRPr lang="en-US" sz="1400" dirty="0"/>
          </a:p>
        </p:txBody>
      </p:sp>
      <p:sp>
        <p:nvSpPr>
          <p:cNvPr id="8" name="fagron-copy"/>
          <p:cNvSpPr/>
          <p:nvPr/>
        </p:nvSpPr>
        <p:spPr>
          <a:xfrm>
            <a:off x="1422400" y="3632200"/>
            <a:ext cx="444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5"/>
              </a:lnSpc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Scientific knowledge</a:t>
            </a:r>
            <a:endParaRPr lang="en-US" sz="2500" dirty="0"/>
          </a:p>
          <a:p>
            <a:pPr marL="0" indent="0" algn="l">
              <a:lnSpc>
                <a:spcPts val="3075"/>
              </a:lnSpc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Genetic insight · clinical cases</a:t>
            </a:r>
            <a:endParaRPr lang="en-US" sz="2500" dirty="0"/>
          </a:p>
          <a:p>
            <a:pPr marL="0" indent="0" algn="l">
              <a:lnSpc>
                <a:spcPts val="3075"/>
              </a:lnSpc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Training content</a:t>
            </a:r>
            <a:endParaRPr lang="en-US" sz="2500" dirty="0"/>
          </a:p>
        </p:txBody>
      </p:sp>
      <p:sp>
        <p:nvSpPr>
          <p:cNvPr id="9" name="plus"/>
          <p:cNvSpPr/>
          <p:nvPr/>
        </p:nvSpPr>
        <p:spPr>
          <a:xfrm>
            <a:off x="7048500" y="3352800"/>
            <a:ext cx="2159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70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</a:t>
            </a:r>
            <a:endParaRPr lang="en-US" sz="7000" dirty="0"/>
          </a:p>
        </p:txBody>
      </p:sp>
      <p:sp>
        <p:nvSpPr>
          <p:cNvPr id="10" name="remi-block"/>
          <p:cNvSpPr/>
          <p:nvPr/>
        </p:nvSpPr>
        <p:spPr>
          <a:xfrm>
            <a:off x="9906000" y="2794000"/>
            <a:ext cx="5334000" cy="2184400"/>
          </a:xfrm>
          <a:prstGeom prst="roundRect">
            <a:avLst>
              <a:gd name="adj" fmla="val 2326"/>
            </a:avLst>
          </a:prstGeom>
          <a:solidFill>
            <a:srgbClr val="EDF2F7"/>
          </a:solidFill>
          <a:ln/>
        </p:spPr>
      </p:sp>
      <p:sp>
        <p:nvSpPr>
          <p:cNvPr id="11" name="remi-label"/>
          <p:cNvSpPr/>
          <p:nvPr/>
        </p:nvSpPr>
        <p:spPr>
          <a:xfrm>
            <a:off x="10312400" y="31496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</a:t>
            </a:r>
            <a:endParaRPr lang="en-US" sz="1400" dirty="0"/>
          </a:p>
        </p:txBody>
      </p:sp>
      <p:sp>
        <p:nvSpPr>
          <p:cNvPr id="12" name="remi-copy"/>
          <p:cNvSpPr/>
          <p:nvPr/>
        </p:nvSpPr>
        <p:spPr>
          <a:xfrm>
            <a:off x="10312400" y="3632200"/>
            <a:ext cx="444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5"/>
              </a:lnSpc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Practitioner workflow</a:t>
            </a:r>
            <a:endParaRPr lang="en-US" sz="2500" dirty="0"/>
          </a:p>
          <a:p>
            <a:pPr marL="0" indent="0" algn="l">
              <a:lnSpc>
                <a:spcPts val="3075"/>
              </a:lnSpc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Protocol-building tools</a:t>
            </a:r>
            <a:endParaRPr lang="en-US" sz="2500" dirty="0"/>
          </a:p>
          <a:p>
            <a:pPr marL="0" indent="0" algn="l">
              <a:lnSpc>
                <a:spcPts val="3075"/>
              </a:lnSpc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Community · patient follow-up</a:t>
            </a:r>
            <a:endParaRPr lang="en-US" sz="2500" dirty="0"/>
          </a:p>
        </p:txBody>
      </p:sp>
      <p:sp>
        <p:nvSpPr>
          <p:cNvPr id="13" name="down-arrow"/>
          <p:cNvSpPr/>
          <p:nvPr/>
        </p:nvSpPr>
        <p:spPr>
          <a:xfrm>
            <a:off x="8128000" y="4978400"/>
            <a:ext cx="9144" cy="508000"/>
          </a:xfrm>
          <a:prstGeom prst="line">
            <a:avLst/>
          </a:prstGeom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outcome-band"/>
          <p:cNvSpPr/>
          <p:nvPr/>
        </p:nvSpPr>
        <p:spPr>
          <a:xfrm>
            <a:off x="2095500" y="5689600"/>
            <a:ext cx="12065000" cy="838200"/>
          </a:xfrm>
          <a:prstGeom prst="roundRect">
            <a:avLst>
              <a:gd name="adj" fmla="val 6061"/>
            </a:avLst>
          </a:prstGeom>
          <a:solidFill>
            <a:srgbClr val="0B203A"/>
          </a:solidFill>
          <a:ln/>
        </p:spPr>
      </p:sp>
      <p:sp>
        <p:nvSpPr>
          <p:cNvPr id="15" name="outcome"/>
          <p:cNvSpPr/>
          <p:nvPr/>
        </p:nvSpPr>
        <p:spPr>
          <a:xfrm>
            <a:off x="2413000" y="59055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PRACTITIONERS BETTER EQUIPPED TO USE NUTRIGENETICS</a:t>
            </a:r>
            <a:endParaRPr lang="en-US" sz="2800" dirty="0"/>
          </a:p>
        </p:txBody>
      </p:sp>
      <p:sp>
        <p:nvSpPr>
          <p:cNvPr id="16" name="learn"/>
          <p:cNvSpPr/>
          <p:nvPr/>
        </p:nvSpPr>
        <p:spPr>
          <a:xfrm>
            <a:off x="2921000" y="69469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LEARN</a:t>
            </a:r>
            <a:endParaRPr lang="en-US" sz="2500" dirty="0"/>
          </a:p>
        </p:txBody>
      </p:sp>
      <p:sp>
        <p:nvSpPr>
          <p:cNvPr id="17" name="learn-arrow"/>
          <p:cNvSpPr/>
          <p:nvPr/>
        </p:nvSpPr>
        <p:spPr>
          <a:xfrm>
            <a:off x="5270500" y="69342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2500" dirty="0"/>
          </a:p>
        </p:txBody>
      </p:sp>
      <p:sp>
        <p:nvSpPr>
          <p:cNvPr id="18" name="apply"/>
          <p:cNvSpPr/>
          <p:nvPr/>
        </p:nvSpPr>
        <p:spPr>
          <a:xfrm>
            <a:off x="6477000" y="69469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APPLY</a:t>
            </a:r>
            <a:endParaRPr lang="en-US" sz="2500" dirty="0"/>
          </a:p>
        </p:txBody>
      </p:sp>
      <p:sp>
        <p:nvSpPr>
          <p:cNvPr id="19" name="apply-arrow"/>
          <p:cNvSpPr/>
          <p:nvPr/>
        </p:nvSpPr>
        <p:spPr>
          <a:xfrm>
            <a:off x="8826500" y="69342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14B8A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2500" dirty="0"/>
          </a:p>
        </p:txBody>
      </p:sp>
      <p:sp>
        <p:nvSpPr>
          <p:cNvPr id="20" name="follow"/>
          <p:cNvSpPr/>
          <p:nvPr/>
        </p:nvSpPr>
        <p:spPr>
          <a:xfrm>
            <a:off x="10033000" y="69469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FOLLOW</a:t>
            </a:r>
            <a:endParaRPr lang="en-US" sz="2500" dirty="0"/>
          </a:p>
        </p:txBody>
      </p:sp>
      <p:sp>
        <p:nvSpPr>
          <p:cNvPr id="21" name="learning-layers"/>
          <p:cNvSpPr/>
          <p:nvPr/>
        </p:nvSpPr>
        <p:spPr>
          <a:xfrm>
            <a:off x="1397000" y="7518400"/>
            <a:ext cx="134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Nutrigenetics · Polymorphisms · NutriGen interpretation · Limits · Protocol building · Patient communication</a:t>
            </a:r>
            <a:endParaRPr lang="en-US" sz="1400" dirty="0"/>
          </a:p>
        </p:txBody>
      </p:sp>
      <p:sp>
        <p:nvSpPr>
          <p:cNvPr id="22" name="qualifier"/>
          <p:cNvSpPr/>
          <p:nvPr/>
        </p:nvSpPr>
        <p:spPr>
          <a:xfrm>
            <a:off x="1016000" y="8026400"/>
            <a:ext cx="142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area to explore — not a decided practitioner program.</a:t>
            </a:r>
            <a:endParaRPr lang="en-US" sz="1400" dirty="0"/>
          </a:p>
        </p:txBody>
      </p:sp>
      <p:sp>
        <p:nvSpPr>
          <p:cNvPr id="23" name="source"/>
          <p:cNvSpPr/>
          <p:nvPr/>
        </p:nvSpPr>
        <p:spPr>
          <a:xfrm>
            <a:off x="1016000" y="8559800"/>
            <a:ext cx="1219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basis: Fagron Genomics webinars and NutriGen materials. REMI elements: internal product and community vision.</a:t>
            </a:r>
            <a:endParaRPr lang="en-US" sz="1300" dirty="0"/>
          </a:p>
        </p:txBody>
      </p:sp>
      <p:sp>
        <p:nvSpPr>
          <p:cNvPr id="24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up-label"/>
          <p:cNvSpPr/>
          <p:nvPr/>
        </p:nvSpPr>
        <p:spPr>
          <a:xfrm>
            <a:off x="1016000" y="4572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/ DISCUSSION IF RELEVANT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9652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potential practitioner–patient growth flywheel.</a:t>
            </a:r>
            <a:endParaRPr lang="en-US" sz="4200" dirty="0"/>
          </a:p>
        </p:txBody>
      </p:sp>
      <p:sp>
        <p:nvSpPr>
          <p:cNvPr id="5" name="slide-subtitle"/>
          <p:cNvSpPr/>
          <p:nvPr/>
        </p:nvSpPr>
        <p:spPr>
          <a:xfrm>
            <a:off x="1016000" y="1968500"/>
            <a:ext cx="1206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scientific value, activation and adoption could reinforce a stronger ecosystem.</a:t>
            </a:r>
            <a:endParaRPr lang="en-US" sz="2100" dirty="0"/>
          </a:p>
        </p:txBody>
      </p:sp>
      <p:sp>
        <p:nvSpPr>
          <p:cNvPr id="6" name="arrow-one"/>
          <p:cNvSpPr/>
          <p:nvPr/>
        </p:nvSpPr>
        <p:spPr>
          <a:xfrm>
            <a:off x="2984500" y="4191000"/>
            <a:ext cx="571500" cy="9144"/>
          </a:xfrm>
          <a:prstGeom prst="line">
            <a:avLst/>
          </a:prstGeom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7" name="arrow-two"/>
          <p:cNvSpPr/>
          <p:nvPr/>
        </p:nvSpPr>
        <p:spPr>
          <a:xfrm>
            <a:off x="5461000" y="4191000"/>
            <a:ext cx="571500" cy="9144"/>
          </a:xfrm>
          <a:prstGeom prst="line">
            <a:avLst/>
          </a:prstGeom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arrow-three"/>
          <p:cNvSpPr/>
          <p:nvPr/>
        </p:nvSpPr>
        <p:spPr>
          <a:xfrm>
            <a:off x="7937500" y="4191000"/>
            <a:ext cx="571500" cy="9144"/>
          </a:xfrm>
          <a:prstGeom prst="line">
            <a:avLst/>
          </a:prstGeom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arrow-four"/>
          <p:cNvSpPr/>
          <p:nvPr/>
        </p:nvSpPr>
        <p:spPr>
          <a:xfrm>
            <a:off x="10414000" y="4191000"/>
            <a:ext cx="571500" cy="9144"/>
          </a:xfrm>
          <a:prstGeom prst="line">
            <a:avLst/>
          </a:prstGeom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arrow-five"/>
          <p:cNvSpPr/>
          <p:nvPr/>
        </p:nvSpPr>
        <p:spPr>
          <a:xfrm>
            <a:off x="12890500" y="4191000"/>
            <a:ext cx="571500" cy="9144"/>
          </a:xfrm>
          <a:prstGeom prst="line">
            <a:avLst/>
          </a:prstGeom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1" name="node-fagron"/>
          <p:cNvSpPr/>
          <p:nvPr/>
        </p:nvSpPr>
        <p:spPr>
          <a:xfrm>
            <a:off x="1016000" y="3352800"/>
            <a:ext cx="1968500" cy="1676400"/>
          </a:xfrm>
          <a:prstGeom prst="roundRect">
            <a:avLst>
              <a:gd name="adj" fmla="val 3030"/>
            </a:avLst>
          </a:prstGeom>
          <a:solidFill>
            <a:srgbClr val="0B203A"/>
          </a:solidFill>
          <a:ln/>
        </p:spPr>
      </p:sp>
      <p:sp>
        <p:nvSpPr>
          <p:cNvPr id="12" name="node-fagron-label"/>
          <p:cNvSpPr/>
          <p:nvPr/>
        </p:nvSpPr>
        <p:spPr>
          <a:xfrm>
            <a:off x="1206500" y="3594100"/>
            <a:ext cx="158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300" dirty="0">
                <a:solidFill>
                  <a:srgbClr val="B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FAGRON</a:t>
            </a:r>
            <a:endParaRPr lang="en-US" sz="1300" dirty="0"/>
          </a:p>
        </p:txBody>
      </p:sp>
      <p:sp>
        <p:nvSpPr>
          <p:cNvPr id="13" name="node-fagron-copy"/>
          <p:cNvSpPr/>
          <p:nvPr/>
        </p:nvSpPr>
        <p:spPr>
          <a:xfrm>
            <a:off x="1206500" y="4000500"/>
            <a:ext cx="1587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</a:t>
            </a:r>
            <a:endParaRPr lang="en-US" sz="1800" dirty="0"/>
          </a:p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+ testing</a:t>
            </a:r>
            <a:endParaRPr lang="en-US" sz="1800" dirty="0"/>
          </a:p>
        </p:txBody>
      </p:sp>
      <p:sp>
        <p:nvSpPr>
          <p:cNvPr id="14" name="node-practitioners"/>
          <p:cNvSpPr/>
          <p:nvPr/>
        </p:nvSpPr>
        <p:spPr>
          <a:xfrm>
            <a:off x="3556000" y="3352800"/>
            <a:ext cx="1905000" cy="1676400"/>
          </a:xfrm>
          <a:prstGeom prst="roundRect">
            <a:avLst>
              <a:gd name="adj" fmla="val 3030"/>
            </a:avLst>
          </a:prstGeom>
          <a:solidFill>
            <a:srgbClr val="EDF2F7"/>
          </a:solidFill>
          <a:ln/>
        </p:spPr>
      </p:sp>
      <p:sp>
        <p:nvSpPr>
          <p:cNvPr id="15" name="node-practitioners-label"/>
          <p:cNvSpPr/>
          <p:nvPr/>
        </p:nvSpPr>
        <p:spPr>
          <a:xfrm>
            <a:off x="3746500" y="35941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3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PRACTITIONERS</a:t>
            </a:r>
            <a:endParaRPr lang="en-US" sz="1300" dirty="0"/>
          </a:p>
        </p:txBody>
      </p:sp>
      <p:sp>
        <p:nvSpPr>
          <p:cNvPr id="16" name="node-practitioners-copy"/>
          <p:cNvSpPr/>
          <p:nvPr/>
        </p:nvSpPr>
        <p:spPr>
          <a:xfrm>
            <a:off x="3746500" y="4089400"/>
            <a:ext cx="1524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</a:t>
            </a:r>
            <a:endParaRPr lang="en-US" sz="1800" dirty="0"/>
          </a:p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</a:t>
            </a:r>
            <a:endParaRPr lang="en-US" sz="1800" dirty="0"/>
          </a:p>
        </p:txBody>
      </p:sp>
      <p:sp>
        <p:nvSpPr>
          <p:cNvPr id="17" name="node-remi"/>
          <p:cNvSpPr/>
          <p:nvPr/>
        </p:nvSpPr>
        <p:spPr>
          <a:xfrm>
            <a:off x="6032500" y="3352800"/>
            <a:ext cx="1905000" cy="1676400"/>
          </a:xfrm>
          <a:prstGeom prst="roundRect">
            <a:avLst>
              <a:gd name="adj" fmla="val 3030"/>
            </a:avLst>
          </a:prstGeom>
          <a:solidFill>
            <a:srgbClr val="14B8A6"/>
          </a:solidFill>
          <a:ln/>
        </p:spPr>
      </p:sp>
      <p:sp>
        <p:nvSpPr>
          <p:cNvPr id="18" name="node-remi-label"/>
          <p:cNvSpPr/>
          <p:nvPr/>
        </p:nvSpPr>
        <p:spPr>
          <a:xfrm>
            <a:off x="6223000" y="35941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300" dirty="0">
                <a:solidFill>
                  <a:srgbClr val="E3FF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</a:t>
            </a:r>
            <a:endParaRPr lang="en-US" sz="1300" dirty="0"/>
          </a:p>
        </p:txBody>
      </p:sp>
      <p:sp>
        <p:nvSpPr>
          <p:cNvPr id="19" name="node-remi-copy"/>
          <p:cNvSpPr/>
          <p:nvPr/>
        </p:nvSpPr>
        <p:spPr>
          <a:xfrm>
            <a:off x="6223000" y="4089400"/>
            <a:ext cx="1524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+</a:t>
            </a:r>
            <a:endParaRPr lang="en-US" sz="1800" dirty="0"/>
          </a:p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activation</a:t>
            </a:r>
            <a:endParaRPr lang="en-US" sz="1800" dirty="0"/>
          </a:p>
        </p:txBody>
      </p:sp>
      <p:sp>
        <p:nvSpPr>
          <p:cNvPr id="20" name="node-patients"/>
          <p:cNvSpPr/>
          <p:nvPr/>
        </p:nvSpPr>
        <p:spPr>
          <a:xfrm>
            <a:off x="8509000" y="3352800"/>
            <a:ext cx="1905000" cy="1676400"/>
          </a:xfrm>
          <a:prstGeom prst="roundRect">
            <a:avLst>
              <a:gd name="adj" fmla="val 3030"/>
            </a:avLst>
          </a:prstGeom>
          <a:solidFill>
            <a:srgbClr val="EDF2F7"/>
          </a:solidFill>
          <a:ln/>
        </p:spPr>
      </p:sp>
      <p:sp>
        <p:nvSpPr>
          <p:cNvPr id="21" name="node-patients-label"/>
          <p:cNvSpPr/>
          <p:nvPr/>
        </p:nvSpPr>
        <p:spPr>
          <a:xfrm>
            <a:off x="8699500" y="35941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3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</a:t>
            </a:r>
            <a:endParaRPr lang="en-US" sz="1300" dirty="0"/>
          </a:p>
        </p:txBody>
      </p:sp>
      <p:sp>
        <p:nvSpPr>
          <p:cNvPr id="22" name="node-patients-copy"/>
          <p:cNvSpPr/>
          <p:nvPr/>
        </p:nvSpPr>
        <p:spPr>
          <a:xfrm>
            <a:off x="8699500" y="4089400"/>
            <a:ext cx="1524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personalized</a:t>
            </a:r>
            <a:endParaRPr lang="en-US" sz="1800" dirty="0"/>
          </a:p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journeys</a:t>
            </a:r>
            <a:endParaRPr lang="en-US" sz="1800" dirty="0"/>
          </a:p>
        </p:txBody>
      </p:sp>
      <p:sp>
        <p:nvSpPr>
          <p:cNvPr id="23" name="node-test-value"/>
          <p:cNvSpPr/>
          <p:nvPr/>
        </p:nvSpPr>
        <p:spPr>
          <a:xfrm>
            <a:off x="10985500" y="3352800"/>
            <a:ext cx="1905000" cy="1676400"/>
          </a:xfrm>
          <a:prstGeom prst="roundRect">
            <a:avLst>
              <a:gd name="adj" fmla="val 3030"/>
            </a:avLst>
          </a:prstGeom>
          <a:solidFill>
            <a:srgbClr val="EDF2F7"/>
          </a:solidFill>
          <a:ln/>
        </p:spPr>
      </p:sp>
      <p:sp>
        <p:nvSpPr>
          <p:cNvPr id="24" name="node-test-value-label"/>
          <p:cNvSpPr/>
          <p:nvPr/>
        </p:nvSpPr>
        <p:spPr>
          <a:xfrm>
            <a:off x="11176000" y="35941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3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300" dirty="0"/>
          </a:p>
        </p:txBody>
      </p:sp>
      <p:sp>
        <p:nvSpPr>
          <p:cNvPr id="25" name="node-test-value-copy"/>
          <p:cNvSpPr/>
          <p:nvPr/>
        </p:nvSpPr>
        <p:spPr>
          <a:xfrm>
            <a:off x="11176000" y="4000500"/>
            <a:ext cx="15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value</a:t>
            </a:r>
            <a:endParaRPr lang="en-US" sz="1800" dirty="0"/>
          </a:p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test</a:t>
            </a:r>
            <a:endParaRPr lang="en-US" sz="1800" dirty="0"/>
          </a:p>
        </p:txBody>
      </p:sp>
      <p:sp>
        <p:nvSpPr>
          <p:cNvPr id="26" name="node-ecosystem"/>
          <p:cNvSpPr/>
          <p:nvPr/>
        </p:nvSpPr>
        <p:spPr>
          <a:xfrm>
            <a:off x="13462000" y="3352800"/>
            <a:ext cx="1778000" cy="1676400"/>
          </a:xfrm>
          <a:prstGeom prst="roundRect">
            <a:avLst>
              <a:gd name="adj" fmla="val 3030"/>
            </a:avLst>
          </a:prstGeom>
          <a:solidFill>
            <a:srgbClr val="0B203A"/>
          </a:solidFill>
          <a:ln/>
        </p:spPr>
      </p:sp>
      <p:sp>
        <p:nvSpPr>
          <p:cNvPr id="27" name="node-ecosystem-label"/>
          <p:cNvSpPr/>
          <p:nvPr/>
        </p:nvSpPr>
        <p:spPr>
          <a:xfrm>
            <a:off x="13652500" y="3594100"/>
            <a:ext cx="139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300" dirty="0">
                <a:solidFill>
                  <a:srgbClr val="B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300" dirty="0"/>
          </a:p>
        </p:txBody>
      </p:sp>
      <p:sp>
        <p:nvSpPr>
          <p:cNvPr id="28" name="node-ecosystem-copy"/>
          <p:cNvSpPr/>
          <p:nvPr/>
        </p:nvSpPr>
        <p:spPr>
          <a:xfrm>
            <a:off x="13652500" y="40005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adoption</a:t>
            </a:r>
            <a:endParaRPr lang="en-US" sz="1800" dirty="0"/>
          </a:p>
          <a:p>
            <a:pPr marL="0" indent="0" algn="ctr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ecosystem</a:t>
            </a:r>
            <a:endParaRPr lang="en-US" sz="1800" dirty="0"/>
          </a:p>
        </p:txBody>
      </p:sp>
      <p:sp>
        <p:nvSpPr>
          <p:cNvPr id="29" name="return-loop-right"/>
          <p:cNvSpPr/>
          <p:nvPr/>
        </p:nvSpPr>
        <p:spPr>
          <a:xfrm>
            <a:off x="14351000" y="5029200"/>
            <a:ext cx="9144" cy="889000"/>
          </a:xfrm>
          <a:prstGeom prst="line">
            <a:avLst/>
          </a:prstGeom>
          <a:ln w="25400">
            <a:solidFill>
              <a:srgbClr val="14B8A6"/>
            </a:solidFill>
            <a:prstDash val="solid"/>
          </a:ln>
        </p:spPr>
      </p:sp>
      <p:sp>
        <p:nvSpPr>
          <p:cNvPr id="30" name="return-loop-bottom"/>
          <p:cNvSpPr/>
          <p:nvPr/>
        </p:nvSpPr>
        <p:spPr>
          <a:xfrm flipH="1">
            <a:off x="2032000" y="5918200"/>
            <a:ext cx="12319000" cy="9144"/>
          </a:xfrm>
          <a:prstGeom prst="line">
            <a:avLst/>
          </a:prstGeom>
          <a:ln w="25400">
            <a:solidFill>
              <a:srgbClr val="14B8A6"/>
            </a:solidFill>
            <a:prstDash val="solid"/>
          </a:ln>
        </p:spPr>
      </p:sp>
      <p:sp>
        <p:nvSpPr>
          <p:cNvPr id="31" name="return-loop-left"/>
          <p:cNvSpPr/>
          <p:nvPr/>
        </p:nvSpPr>
        <p:spPr>
          <a:xfrm flipV="1">
            <a:off x="2032000" y="5029200"/>
            <a:ext cx="9144" cy="889000"/>
          </a:xfrm>
          <a:prstGeom prst="line">
            <a:avLst/>
          </a:prstGeom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2" name="fagron-value"/>
          <p:cNvSpPr/>
          <p:nvPr/>
        </p:nvSpPr>
        <p:spPr>
          <a:xfrm>
            <a:off x="1016000" y="6654800"/>
            <a:ext cx="6350000" cy="965200"/>
          </a:xfrm>
          <a:prstGeom prst="roundRect">
            <a:avLst>
              <a:gd name="adj" fmla="val 5263"/>
            </a:avLst>
          </a:prstGeom>
          <a:solidFill>
            <a:srgbClr val="EDF2F7"/>
          </a:solidFill>
          <a:ln/>
        </p:spPr>
      </p:sp>
      <p:sp>
        <p:nvSpPr>
          <p:cNvPr id="33" name="fagron-value-label"/>
          <p:cNvSpPr/>
          <p:nvPr/>
        </p:nvSpPr>
        <p:spPr>
          <a:xfrm>
            <a:off x="1320800" y="68707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FOR FAGRON</a:t>
            </a:r>
            <a:endParaRPr lang="en-US" sz="1300" dirty="0"/>
          </a:p>
        </p:txBody>
      </p:sp>
      <p:sp>
        <p:nvSpPr>
          <p:cNvPr id="34" name="fagron-value-copy"/>
          <p:cNvSpPr/>
          <p:nvPr/>
        </p:nvSpPr>
        <p:spPr>
          <a:xfrm>
            <a:off x="1320800" y="7175500"/>
            <a:ext cx="546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test value · usage · practitioner / patient adoption</a:t>
            </a:r>
            <a:endParaRPr lang="en-US" sz="1800" dirty="0"/>
          </a:p>
        </p:txBody>
      </p:sp>
      <p:sp>
        <p:nvSpPr>
          <p:cNvPr id="35" name="remi-value"/>
          <p:cNvSpPr/>
          <p:nvPr/>
        </p:nvSpPr>
        <p:spPr>
          <a:xfrm>
            <a:off x="8890000" y="6654800"/>
            <a:ext cx="6350000" cy="965200"/>
          </a:xfrm>
          <a:prstGeom prst="roundRect">
            <a:avLst>
              <a:gd name="adj" fmla="val 5263"/>
            </a:avLst>
          </a:prstGeom>
          <a:solidFill>
            <a:srgbClr val="EDF2F7"/>
          </a:solidFill>
          <a:ln/>
        </p:spPr>
      </p:sp>
      <p:sp>
        <p:nvSpPr>
          <p:cNvPr id="36" name="remi-value-label"/>
          <p:cNvSpPr/>
          <p:nvPr/>
        </p:nvSpPr>
        <p:spPr>
          <a:xfrm>
            <a:off x="9194800" y="68707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FOR REMI</a:t>
            </a:r>
            <a:endParaRPr lang="en-US" sz="1300" dirty="0"/>
          </a:p>
        </p:txBody>
      </p:sp>
      <p:sp>
        <p:nvSpPr>
          <p:cNvPr id="37" name="remi-value-copy"/>
          <p:cNvSpPr/>
          <p:nvPr/>
        </p:nvSpPr>
        <p:spPr>
          <a:xfrm>
            <a:off x="9194800" y="7175500"/>
            <a:ext cx="546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Practitioner adoption · engagement · stronger care loop</a:t>
            </a:r>
            <a:endParaRPr lang="en-US" sz="1800" dirty="0"/>
          </a:p>
        </p:txBody>
      </p:sp>
      <p:sp>
        <p:nvSpPr>
          <p:cNvPr id="38" name="qualifier"/>
          <p:cNvSpPr/>
          <p:nvPr/>
        </p:nvSpPr>
        <p:spPr>
          <a:xfrm>
            <a:off x="1016000" y="8001000"/>
            <a:ext cx="142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Hypothesis for discussion — not a committed growth strategy.</a:t>
            </a:r>
            <a:endParaRPr lang="en-US" sz="1400" dirty="0"/>
          </a:p>
        </p:txBody>
      </p:sp>
      <p:sp>
        <p:nvSpPr>
          <p:cNvPr id="39" name="source"/>
          <p:cNvSpPr/>
          <p:nvPr/>
        </p:nvSpPr>
        <p:spPr>
          <a:xfrm>
            <a:off x="1016000" y="8559800"/>
            <a:ext cx="1168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 discussion slide based on REMI platform vision and publicly described Fagron Genomics education capabilities.</a:t>
            </a:r>
            <a:endParaRPr lang="en-US" sz="1300" dirty="0"/>
          </a:p>
        </p:txBody>
      </p:sp>
      <p:sp>
        <p:nvSpPr>
          <p:cNvPr id="40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up-label"/>
          <p:cNvSpPr/>
          <p:nvPr/>
        </p:nvSpPr>
        <p:spPr>
          <a:xfrm>
            <a:off x="1016000" y="4572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/ DISCUSSION IF RELEVANT</a:t>
            </a:r>
            <a:endParaRPr lang="en-US" sz="1400" dirty="0"/>
          </a:p>
        </p:txBody>
      </p:sp>
      <p:sp>
        <p:nvSpPr>
          <p:cNvPr id="3" name="accent-line"/>
          <p:cNvSpPr/>
          <p:nvPr/>
        </p:nvSpPr>
        <p:spPr>
          <a:xfrm>
            <a:off x="1016000" y="889000"/>
            <a:ext cx="11176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</a:ln>
        </p:spPr>
      </p:sp>
      <p:sp>
        <p:nvSpPr>
          <p:cNvPr id="4" name="slide-title"/>
          <p:cNvSpPr/>
          <p:nvPr/>
        </p:nvSpPr>
        <p:spPr>
          <a:xfrm>
            <a:off x="1016000" y="1219200"/>
            <a:ext cx="1143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Belgium proves the care loop. Europe can reproduce it.</a:t>
            </a:r>
            <a:endParaRPr lang="en-US" sz="4200" dirty="0"/>
          </a:p>
        </p:txBody>
      </p:sp>
      <p:sp>
        <p:nvSpPr>
          <p:cNvPr id="5" name="slide-subtitle"/>
          <p:cNvSpPr/>
          <p:nvPr/>
        </p:nvSpPr>
        <p:spPr>
          <a:xfrm>
            <a:off x="1016000" y="1968500"/>
            <a:ext cx="1155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market-by-market expansion hypothesis — not an announced launch plan.</a:t>
            </a:r>
            <a:endParaRPr lang="en-US" sz="2100" dirty="0"/>
          </a:p>
        </p:txBody>
      </p:sp>
      <p:sp>
        <p:nvSpPr>
          <p:cNvPr id="6" name="belgium-node"/>
          <p:cNvSpPr/>
          <p:nvPr/>
        </p:nvSpPr>
        <p:spPr>
          <a:xfrm>
            <a:off x="1524000" y="3530600"/>
            <a:ext cx="3429000" cy="2032000"/>
          </a:xfrm>
          <a:prstGeom prst="ellipse">
            <a:avLst/>
          </a:prstGeom>
          <a:solidFill>
            <a:srgbClr val="0B203A"/>
          </a:solidFill>
          <a:ln/>
        </p:spPr>
      </p:sp>
      <p:sp>
        <p:nvSpPr>
          <p:cNvPr id="7" name="belgium-title"/>
          <p:cNvSpPr/>
          <p:nvPr/>
        </p:nvSpPr>
        <p:spPr>
          <a:xfrm>
            <a:off x="1841500" y="3937000"/>
            <a:ext cx="279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BELGIUM</a:t>
            </a:r>
            <a:endParaRPr lang="en-US" sz="2800" dirty="0"/>
          </a:p>
        </p:txBody>
      </p:sp>
      <p:sp>
        <p:nvSpPr>
          <p:cNvPr id="8" name="belgium-copy"/>
          <p:cNvSpPr/>
          <p:nvPr/>
        </p:nvSpPr>
        <p:spPr>
          <a:xfrm>
            <a:off x="1841500" y="4483100"/>
            <a:ext cx="279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altLang="en-US" sz="1900" dirty="0">
                <a:solidFill>
                  <a:srgbClr val="B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the</a:t>
            </a:r>
            <a:endParaRPr lang="en-US" sz="1900" dirty="0"/>
          </a:p>
          <a:p>
            <a:pPr marL="0" indent="0" algn="ctr">
              <a:lnSpc>
                <a:spcPts val="2280"/>
              </a:lnSpc>
              <a:buNone/>
            </a:pPr>
            <a:r>
              <a:rPr lang="en-US" altLang="en-US" sz="1900" dirty="0">
                <a:solidFill>
                  <a:srgbClr val="B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loop</a:t>
            </a:r>
            <a:endParaRPr lang="en-US" sz="1900" dirty="0"/>
          </a:p>
        </p:txBody>
      </p:sp>
      <p:sp>
        <p:nvSpPr>
          <p:cNvPr id="9" name="europe-line"/>
          <p:cNvSpPr/>
          <p:nvPr/>
        </p:nvSpPr>
        <p:spPr>
          <a:xfrm>
            <a:off x="4953000" y="4546600"/>
            <a:ext cx="2413000" cy="9144"/>
          </a:xfrm>
          <a:prstGeom prst="line">
            <a:avLst/>
          </a:prstGeom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assess-label"/>
          <p:cNvSpPr/>
          <p:nvPr/>
        </p:nvSpPr>
        <p:spPr>
          <a:xfrm>
            <a:off x="5969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ASSESS</a:t>
            </a:r>
            <a:endParaRPr lang="en-US" sz="1400" dirty="0"/>
          </a:p>
        </p:txBody>
      </p:sp>
      <p:sp>
        <p:nvSpPr>
          <p:cNvPr id="11" name="branch-line-top"/>
          <p:cNvSpPr/>
          <p:nvPr/>
        </p:nvSpPr>
        <p:spPr>
          <a:xfrm flipV="1">
            <a:off x="7366000" y="3517900"/>
            <a:ext cx="9144" cy="1028700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12" name="branch-line-bottom"/>
          <p:cNvSpPr/>
          <p:nvPr/>
        </p:nvSpPr>
        <p:spPr>
          <a:xfrm>
            <a:off x="7366000" y="4546600"/>
            <a:ext cx="9144" cy="1028700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13" name="branch-line-top-right"/>
          <p:cNvSpPr/>
          <p:nvPr/>
        </p:nvSpPr>
        <p:spPr>
          <a:xfrm>
            <a:off x="7366000" y="3517900"/>
            <a:ext cx="1117600" cy="9144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14" name="branch-line-bottom-right"/>
          <p:cNvSpPr/>
          <p:nvPr/>
        </p:nvSpPr>
        <p:spPr>
          <a:xfrm>
            <a:off x="7366000" y="5575300"/>
            <a:ext cx="1117600" cy="9144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15" name="nl-node"/>
          <p:cNvSpPr/>
          <p:nvPr/>
        </p:nvSpPr>
        <p:spPr>
          <a:xfrm>
            <a:off x="8636000" y="2743200"/>
            <a:ext cx="2794000" cy="1422400"/>
          </a:xfrm>
          <a:prstGeom prst="roundRect">
            <a:avLst>
              <a:gd name="adj" fmla="val 3571"/>
            </a:avLst>
          </a:prstGeom>
          <a:solidFill>
            <a:srgbClr val="EDF2F7"/>
          </a:solidFill>
          <a:ln/>
        </p:spPr>
      </p:sp>
      <p:sp>
        <p:nvSpPr>
          <p:cNvPr id="16" name="nl-title"/>
          <p:cNvSpPr/>
          <p:nvPr/>
        </p:nvSpPr>
        <p:spPr>
          <a:xfrm>
            <a:off x="8890000" y="30861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NETHERLANDS</a:t>
            </a:r>
            <a:endParaRPr lang="en-US" sz="2200" dirty="0"/>
          </a:p>
        </p:txBody>
      </p:sp>
      <p:sp>
        <p:nvSpPr>
          <p:cNvPr id="17" name="nl-copy"/>
          <p:cNvSpPr/>
          <p:nvPr/>
        </p:nvSpPr>
        <p:spPr>
          <a:xfrm>
            <a:off x="8890000" y="35433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Adjacent · digital readiness</a:t>
            </a:r>
            <a:endParaRPr lang="en-US" sz="1400" dirty="0"/>
          </a:p>
        </p:txBody>
      </p:sp>
      <p:sp>
        <p:nvSpPr>
          <p:cNvPr id="18" name="fr-node"/>
          <p:cNvSpPr/>
          <p:nvPr/>
        </p:nvSpPr>
        <p:spPr>
          <a:xfrm>
            <a:off x="11938000" y="2743200"/>
            <a:ext cx="2794000" cy="1422400"/>
          </a:xfrm>
          <a:prstGeom prst="roundRect">
            <a:avLst>
              <a:gd name="adj" fmla="val 3571"/>
            </a:avLst>
          </a:prstGeom>
          <a:solidFill>
            <a:srgbClr val="EDF2F7"/>
          </a:solidFill>
          <a:ln/>
        </p:spPr>
      </p:sp>
      <p:sp>
        <p:nvSpPr>
          <p:cNvPr id="19" name="fr-title"/>
          <p:cNvSpPr/>
          <p:nvPr/>
        </p:nvSpPr>
        <p:spPr>
          <a:xfrm>
            <a:off x="12192000" y="30861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FRANCE</a:t>
            </a:r>
            <a:endParaRPr lang="en-US" sz="2200" dirty="0"/>
          </a:p>
        </p:txBody>
      </p:sp>
      <p:sp>
        <p:nvSpPr>
          <p:cNvPr id="20" name="fr-copy"/>
          <p:cNvSpPr/>
          <p:nvPr/>
        </p:nvSpPr>
        <p:spPr>
          <a:xfrm>
            <a:off x="12192000" y="35433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· ecosystem</a:t>
            </a:r>
            <a:endParaRPr lang="en-US" sz="1400" dirty="0"/>
          </a:p>
        </p:txBody>
      </p:sp>
      <p:sp>
        <p:nvSpPr>
          <p:cNvPr id="21" name="es-node"/>
          <p:cNvSpPr/>
          <p:nvPr/>
        </p:nvSpPr>
        <p:spPr>
          <a:xfrm>
            <a:off x="8636000" y="4927600"/>
            <a:ext cx="2794000" cy="1422400"/>
          </a:xfrm>
          <a:prstGeom prst="roundRect">
            <a:avLst>
              <a:gd name="adj" fmla="val 3571"/>
            </a:avLst>
          </a:prstGeom>
          <a:solidFill>
            <a:srgbClr val="EDF2F7"/>
          </a:solidFill>
          <a:ln/>
        </p:spPr>
      </p:sp>
      <p:sp>
        <p:nvSpPr>
          <p:cNvPr id="22" name="es-title"/>
          <p:cNvSpPr/>
          <p:nvPr/>
        </p:nvSpPr>
        <p:spPr>
          <a:xfrm>
            <a:off x="8890000" y="52705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SPAIN</a:t>
            </a:r>
            <a:endParaRPr lang="en-US" sz="2200" dirty="0"/>
          </a:p>
        </p:txBody>
      </p:sp>
      <p:sp>
        <p:nvSpPr>
          <p:cNvPr id="23" name="es-copy"/>
          <p:cNvSpPr/>
          <p:nvPr/>
        </p:nvSpPr>
        <p:spPr>
          <a:xfrm>
            <a:off x="8890000" y="57277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infrastructure</a:t>
            </a:r>
            <a:endParaRPr lang="en-US" sz="1400" dirty="0"/>
          </a:p>
        </p:txBody>
      </p:sp>
      <p:sp>
        <p:nvSpPr>
          <p:cNvPr id="24" name="de-node"/>
          <p:cNvSpPr/>
          <p:nvPr/>
        </p:nvSpPr>
        <p:spPr>
          <a:xfrm>
            <a:off x="11938000" y="4927600"/>
            <a:ext cx="2794000" cy="1422400"/>
          </a:xfrm>
          <a:prstGeom prst="roundRect">
            <a:avLst>
              <a:gd name="adj" fmla="val 3571"/>
            </a:avLst>
          </a:prstGeom>
          <a:solidFill>
            <a:srgbClr val="EDF2F7"/>
          </a:solidFill>
          <a:ln/>
        </p:spPr>
      </p:sp>
      <p:sp>
        <p:nvSpPr>
          <p:cNvPr id="25" name="de-title"/>
          <p:cNvSpPr/>
          <p:nvPr/>
        </p:nvSpPr>
        <p:spPr>
          <a:xfrm>
            <a:off x="12192000" y="52705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0B20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GERMANY</a:t>
            </a:r>
            <a:endParaRPr lang="en-US" sz="2200" dirty="0"/>
          </a:p>
        </p:txBody>
      </p:sp>
      <p:sp>
        <p:nvSpPr>
          <p:cNvPr id="26" name="de-copy"/>
          <p:cNvSpPr/>
          <p:nvPr/>
        </p:nvSpPr>
        <p:spPr>
          <a:xfrm>
            <a:off x="12192000" y="57277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· localization</a:t>
            </a:r>
            <a:endParaRPr lang="en-US" sz="1400" dirty="0"/>
          </a:p>
        </p:txBody>
      </p:sp>
      <p:sp>
        <p:nvSpPr>
          <p:cNvPr id="27" name="criteria-label"/>
          <p:cNvSpPr/>
          <p:nvPr/>
        </p:nvSpPr>
        <p:spPr>
          <a:xfrm>
            <a:off x="1016000" y="7048500"/>
            <a:ext cx="142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SELECTION CRITERIA</a:t>
            </a:r>
            <a:endParaRPr lang="en-US" sz="1400" dirty="0"/>
          </a:p>
        </p:txBody>
      </p:sp>
      <p:sp>
        <p:nvSpPr>
          <p:cNvPr id="28" name="criteria"/>
          <p:cNvSpPr/>
          <p:nvPr/>
        </p:nvSpPr>
        <p:spPr>
          <a:xfrm>
            <a:off x="1016000" y="74295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0B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Practitioner ecosystem · Digital readiness · Partner availability · Language · Economics</a:t>
            </a:r>
            <a:endParaRPr lang="en-US" sz="1800" dirty="0"/>
          </a:p>
        </p:txBody>
      </p:sp>
      <p:sp>
        <p:nvSpPr>
          <p:cNvPr id="29" name="qualifier"/>
          <p:cNvSpPr/>
          <p:nvPr/>
        </p:nvSpPr>
        <p:spPr>
          <a:xfrm>
            <a:off x="1016000" y="7950200"/>
            <a:ext cx="142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markets to assess after Belgium — not announced launches.</a:t>
            </a:r>
            <a:endParaRPr lang="en-US" sz="1400" dirty="0"/>
          </a:p>
        </p:txBody>
      </p:sp>
      <p:sp>
        <p:nvSpPr>
          <p:cNvPr id="30" name="source"/>
          <p:cNvSpPr/>
          <p:nvPr/>
        </p:nvSpPr>
        <p:spPr>
          <a:xfrm>
            <a:off x="1016000" y="8559800"/>
            <a:ext cx="130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European Commission Digital Decade Country Reports 2025 (Netherlands, France, Spain, Germany); REMI strategic market assessment.</a:t>
            </a:r>
            <a:endParaRPr lang="en-US" sz="1200" dirty="0"/>
          </a:p>
        </p:txBody>
      </p:sp>
      <p:sp>
        <p:nvSpPr>
          <p:cNvPr id="31" name="page-number"/>
          <p:cNvSpPr/>
          <p:nvPr/>
        </p:nvSpPr>
        <p:spPr>
          <a:xfrm>
            <a:off x="14668500" y="8509000"/>
            <a:ext cx="57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1183</Words>
  <Application>Microsoft Macintosh PowerPoint</Application>
  <PresentationFormat>Personnalisé</PresentationFormat>
  <Paragraphs>271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Inter</vt:lpstr>
      <vt:lpstr>Plus Jakarta Sans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REMI — Personalized nutrition that adapts to real life</dc:title>
  <dc:subject>REMI — Personalized nutrition that adapts to real life</dc:subject>
  <dc:creator>Manus</dc:creator>
  <cp:lastModifiedBy>Morgane Paquet</cp:lastModifiedBy>
  <cp:revision>2</cp:revision>
  <dcterms:created xsi:type="dcterms:W3CDTF">2026-08-30T13:51:51Z</dcterms:created>
  <dcterms:modified xsi:type="dcterms:W3CDTF">2026-08-30T13:56:50Z</dcterms:modified>
</cp:coreProperties>
</file>